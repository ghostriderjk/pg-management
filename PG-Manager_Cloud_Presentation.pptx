
<file path=[Content_Types].xml><?xml version="1.0" encoding="utf-8"?>
<Types xmlns="http://schemas.openxmlformats.org/package/2006/content-types">
  <Override PartName="/ppt/notesSlides/notesSlide8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.xml" ContentType="application/vnd.openxmlformats-officedocument.presentationml.notesSlid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4.xml" ContentType="application/vnd.openxmlformats-officedocument.presentationml.slide+xml"/>
  <Default Extension="png" ContentType="image/png"/>
  <Override PartName="/ppt/slides/slide3.xml" ContentType="application/vnd.openxmlformats-officedocument.presentationml.slide+xml"/>
  <Override PartName="/ppt/slides/slide2.xml" ContentType="application/vnd.openxmlformats-officedocument.presentationml.slid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57" r:id="rId3"/>
    <p:sldId id="258" r:id="rId4"/>
    <p:sldId id="259" r:id="rId5"/>
    <p:sldId id="263" r:id="rId9"/>
    <p:sldId id="265" r:id="rId11"/>
    <p:sldId id="266" r:id="rId12"/>
    <p:sldId id="267" r:id="rId13"/>
    <p:sldId id="268" r:id="rId14"/>
  </p:sldIdLst>
  <p:sldSz cx="12192000" cy="6858000"/>
  <p:notesSz cx="6858000" cy="9144000"/>
</p:presentation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9" Type="http://schemas.openxmlformats.org/officeDocument/2006/relationships/slide" Target="slides/slide8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OPEN (30s): I built PG Manager — a management system for a Paying Guest house — and deployed it on real AWS cloud infrastructure at zero cost using the free tier.</a:t>
            </a:r>
          </a:p>
          <a:p>
            <a:r>
              <a:rPr lang="zh-CN" dirty="0"/>
              <a:t>Say: 'Everything you see runs on AWS: an EC2 virtual server, an RDS managed database, HTTPS with free certificates.'</a:t>
            </a:r>
          </a:p>
          <a:p>
            <a:r>
              <a:rPr lang="zh-CN" dirty="0"/>
              <a:t>If asked what a PG is: rental housing with paying tenants; the owner manages rooms, rent, complaints.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35s: Two roles. The owner runs everything from the dashboard — occupancy, income vs expense, approving rent payments. Tenants pay rent by uploading a UPI payment screenshot, download receipts, raise complaints.</a:t>
            </a:r>
          </a:p>
          <a:p>
            <a:r>
              <a:rPr lang="zh-CN" dirty="0"/>
              <a:t>Point out the third column: this is a plain React + Node + PostgreSQL stack — nothing cloud-specific in the code. Cloud comes from HOW it is deployed.</a:t>
            </a:r>
          </a:p>
          <a:p>
            <a:r>
              <a:rPr lang="zh-CN" dirty="0"/>
              <a:t>Possible question: 'Why not a serverless framework?' — Answer: a single long-running Express process is simplest to run on a free-tier VM and easy to containerize.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40s: Walk the diagram left to right. Browser talks HTTPS only. Nginx on the EC2 instance terminates TLS and proxies to Node on localhost:5000. One Node process serves both the REST API and the built React files. PostgreSQL is NOT on the server — it is RDS, with public access turned off, reachable only from the web server through a security group rule.</a:t>
            </a:r>
          </a:p>
          <a:p>
            <a:r>
              <a:rPr lang="zh-CN" dirty="0"/>
              <a:t>Key line: 'The database has no public address at all — even if someone finds the endpoint, the firewall refuses them.'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40s: Map to service models — this is the slide for a theory-minded examiner.</a:t>
            </a:r>
          </a:p>
          <a:p>
            <a:r>
              <a:rPr lang="zh-CN" dirty="0"/>
              <a:t>EC2 = IaaS: AWS owns the hardware and hypervisor; I own the OS, runtime and app.</a:t>
            </a:r>
          </a:p>
          <a:p>
            <a:r>
              <a:rPr lang="zh-CN" dirty="0"/>
              <a:t>RDS = managed database (often called PaaS for data): backups, patching, failover are AWS's job.</a:t>
            </a:r>
          </a:p>
          <a:p>
            <a:r>
              <a:rPr lang="zh-CN" dirty="0"/>
              <a:t>Nginx + Let's Encrypt = TLS termination with free auto-renewing certificates.</a:t>
            </a:r>
          </a:p>
          <a:p>
            <a:r>
              <a:rPr lang="zh-CN" dirty="0"/>
              <a:t>Security groups = stateful virtual firewall at the instance level; the DB group accepts port 5432 only from the web group — reference by group, not IP.</a:t>
            </a:r>
          </a:p>
          <a:p>
            <a:r>
              <a:rPr lang="zh-CN" dirty="0"/>
              <a:t>If asked 'What is shared responsibility here?': AWS — physical, network, hypervisor, RDS engine patching. Me — OS updates, app code, secrets, firewall rules.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35s: Numbers, not adjectives. bcrypt cost 12; 5 wrong passwords locks the account 15 minutes plus IP rate limiting; JWT lives 8 hours in an httpOnly SameSite=Strict cookie so JavaScript can never read it; the DB is re-checked every request so deactivating a user kills their session instantly; 15 automated API tests.</a:t>
            </a:r>
          </a:p>
          <a:p>
            <a:r>
              <a:rPr lang="zh-CN" dirty="0"/>
              <a:t>Footer line covers injection (parameterised SQL + zod), XSS (React + CSP), CSRF (SameSite + custom header), uploads (magic-byte signature check, 2MB cap).</a:t>
            </a:r>
          </a:p>
          <a:p>
            <a:r>
              <a:rPr lang="zh-CN" dirty="0"/>
              <a:t>Likely question: 'Where are files stored?' — Payment screenshots go into PostgreSQL as BYTEA and are streamed back only to admin/owner with nosniff and locked CSP.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35s: The deployment is a script anyone can rerun: clone, set .env (chmod 600, never committed), build, PM2 keeps the process alive through crashes and reboots, Nginx site config, certbot for HTTPS, then /api/health proves it.</a:t>
            </a:r>
          </a:p>
          <a:p>
            <a:r>
              <a:rPr lang="zh-CN" dirty="0"/>
              <a:t>Mention: tables + admin account auto-create on first start via migrations — no manual DB setup.</a:t>
            </a:r>
          </a:p>
          <a:p>
            <a:r>
              <a:rPr lang="zh-CN" dirty="0"/>
              <a:t>Update flow at the bottom: git pull, build, pm2 restart — under a minute.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40s: Left: same app in one Docker command — app + postgres:16 containers, volume for persistence, healthcheck for startup order; Render/Railway documented as zero-ops fallbacks.</a:t>
            </a:r>
          </a:p>
          <a:p>
            <a:r>
              <a:rPr lang="zh-CN" dirty="0"/>
              <a:t>Right: honest scaling path. Today one t3.micro is enough for ~50 rooms. Because sessions are stateless JWT, adding a second server behind a load balancer needs no code change. Storage-heavy proofs would move to S3; static build to CloudFront; RDS Multi-AZ for HA.</a:t>
            </a:r>
          </a:p>
          <a:p>
            <a:r>
              <a:rPr lang="zh-CN" dirty="0"/>
              <a:t>Likely question: 'What breaks first?' — probably the single EC2 instance; that is why PM2 + auto-restart and a stateless design are in place.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CLOSE (10s): 'A real, secure, multi-user web system on production cloud infrastructure without spending anything.' Offer the live demo.</a:t>
            </a:r>
          </a:p>
          <a:p>
            <a:r>
              <a:rPr lang="zh-CN" dirty="0"/>
              <a:t>BEFORE YOU START, memorize these three one-liners she is most likely to probe:</a:t>
            </a:r>
          </a:p>
          <a:p>
            <a:r>
              <a:rPr lang="zh-CN" dirty="0"/>
              <a:t>1) IaaS vs PaaS vs SaaS — EC2 is IaaS (raw VM), RDS is managed/PaaS-style, the app itself becomes SaaS for tenants.</a:t>
            </a:r>
          </a:p>
          <a:p>
            <a:r>
              <a:rPr lang="zh-CN" dirty="0"/>
              <a:t>2) Why PostgreSQL on RDS instead of MySQL/Mongo — relational data (tenants-rooms-payments with constraints), free tier support, managed backups.</a:t>
            </a:r>
          </a:p>
          <a:p>
            <a:r>
              <a:rPr lang="zh-CN" dirty="0"/>
              <a:t>3) Cost — t3.micro EC2 + db.t3.micro RDS are both in the 12-month AWS free tier; only the DuckDNS domain and my laptop cost anything.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merged1.png"/><Relationship Id="rId3" Type="http://schemas.openxmlformats.org/officeDocument/2006/relationships/notesSlide" Target="../notesSlides/notesSlide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>
            <a:extLst>
              <a:ext uri="{FF2B5EF4-FFF2-40B4-BE49-F238E27FC236}">
                <a16:creationId xmlns:a16="http://schemas.microsoft.com/office/drawing/2014/main" id="{EC528C78-0CAF-41EF-9599-52C9F62AC942}"/>
              </a:ext>
            </a:extLst>
          </p:cNvPr>
          <p:cNvSpPr/>
          <p:nvPr/>
        </p:nvSpPr>
        <p:spPr>
          <a:xfrm>
            <a:off x="0" y="0"/>
            <a:ext cx="7315200" cy="6858000"/>
          </a:xfrm>
          <a:prstGeom prst="rect">
            <a:avLst/>
          </a:prstGeom>
          <a:solidFill>
            <a:srgbClr val="0E1F38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4D43CE1E-416A-4860-9590-702FC7C591AE}"/>
              </a:ext>
            </a:extLst>
          </p:cNvPr>
          <p:cNvSpPr txBox="1"/>
          <p:nvPr/>
        </p:nvSpPr>
        <p:spPr>
          <a:xfrm>
            <a:off x="762000" y="1123950"/>
            <a:ext cx="5334000" cy="285750"/>
          </a:xfrm>
        </p:spPr>
        <p:txBody>
          <a:bodyPr wrap="square" rtlCol="0" lIns="0" tIns="0" rIns="0" bIns="0" anchor="t"/>
          <a:lstStyle/>
          <a:p>
            <a:pPr algn="l"/>
            <a:r>
              <a:rPr sz="1300" b="1">
                <a:solidFill>
                  <a:srgbClr val="7FA6E8"/>
                </a:solidFill>
                <a:latin typeface="Segoe UI"/>
                <a:ea typeface="Segoe UI"/>
              </a:rPr>
              <a:t>CLOUD COMPUTING  ·  FACULTY DEMO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1B891AE2-156B-4507-BF12-932F5B40731D}"/>
              </a:ext>
            </a:extLst>
          </p:cNvPr>
          <p:cNvSpPr txBox="1"/>
          <p:nvPr/>
        </p:nvSpPr>
        <p:spPr>
          <a:xfrm>
            <a:off x="762000" y="1504950"/>
            <a:ext cx="6096000" cy="952500"/>
          </a:xfrm>
        </p:spPr>
        <p:txBody>
          <a:bodyPr wrap="square" rtlCol="0" lIns="0" tIns="0" rIns="0" bIns="0" anchor="t"/>
          <a:lstStyle/>
          <a:p>
            <a:pPr algn="l"/>
            <a:r>
              <a:rPr sz="5400" b="1">
                <a:solidFill>
                  <a:srgbClr val="FFFFFF"/>
                </a:solidFill>
                <a:latin typeface="Segoe UI"/>
                <a:ea typeface="Segoe UI"/>
              </a:rPr>
              <a:t>PG Manager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8DC518DC-0CA7-40C0-885E-13B410D1331B}"/>
              </a:ext>
            </a:extLst>
          </p:cNvPr>
          <p:cNvSpPr txBox="1"/>
          <p:nvPr/>
        </p:nvSpPr>
        <p:spPr>
          <a:xfrm>
            <a:off x="762000" y="2743200"/>
            <a:ext cx="5619750" cy="1069848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0000"/>
              </a:lnSpc>
            </a:pPr>
            <a:r>
              <a:rPr sz="1800">
                <a:solidFill>
                  <a:srgbClr val="C9D6EA"/>
                </a:solidFill>
                <a:latin typeface="Segoe UI"/>
                <a:ea typeface="Segoe UI"/>
              </a:rPr>
              <a:t>A full-stack Paying Guest house management system — designed, built and deployed on Amazon Web Services, entirely on the free tier.</a:t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B4085F00-9B03-4A6C-8D8A-420B8464806B}"/>
              </a:ext>
            </a:extLst>
          </p:cNvPr>
          <p:cNvSpPr/>
          <p:nvPr/>
        </p:nvSpPr>
        <p:spPr>
          <a:xfrm>
            <a:off x="762000" y="4305300"/>
            <a:ext cx="1123950" cy="419100"/>
          </a:xfrm>
          <a:prstGeom prst="roundRect">
            <a:avLst/>
          </a:prstGeom>
          <a:solidFill>
            <a:srgbClr val="2563EB"/>
          </a:solidFill>
        </p:spPr>
        <p:txBody>
          <a:bodyPr wrap="square" rtlCol="0" lIns="0" tIns="0" rIns="0" bIns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  <a:ea typeface="Segoe UI"/>
              </a:rPr>
              <a:t>EC2</a:t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F36323BB-AE04-49B4-8D95-AEB09E12A98E}"/>
              </a:ext>
            </a:extLst>
          </p:cNvPr>
          <p:cNvSpPr/>
          <p:nvPr/>
        </p:nvSpPr>
        <p:spPr>
          <a:xfrm>
            <a:off x="2038350" y="4305300"/>
            <a:ext cx="2190750" cy="419100"/>
          </a:xfrm>
          <a:prstGeom prst="roundRect">
            <a:avLst/>
          </a:prstGeom>
          <a:solidFill>
            <a:srgbClr val="2563EB"/>
          </a:solidFill>
        </p:spPr>
        <p:txBody>
          <a:bodyPr wrap="square" rtlCol="0" lIns="0" tIns="0" rIns="0" bIns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  <a:ea typeface="Segoe UI"/>
              </a:rPr>
              <a:t>RDS PostgreSQL</a:t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6CF337EC-E6A4-4309-8731-B22759E6773C}"/>
              </a:ext>
            </a:extLst>
          </p:cNvPr>
          <p:cNvSpPr/>
          <p:nvPr/>
        </p:nvSpPr>
        <p:spPr>
          <a:xfrm>
            <a:off x="4381500" y="4305300"/>
            <a:ext cx="2381250" cy="419100"/>
          </a:xfrm>
          <a:prstGeom prst="roundRect">
            <a:avLst/>
          </a:prstGeom>
          <a:solidFill>
            <a:srgbClr val="2563EB"/>
          </a:solidFill>
        </p:spPr>
        <p:txBody>
          <a:bodyPr wrap="square" rtlCol="0" lIns="0" tIns="0" rIns="0" bIns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  <a:ea typeface="Segoe UI"/>
              </a:rPr>
              <a:t>Nginx + HTTPS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A23BBD3C-88BD-4E4B-9F3C-2C826DFF7B2C}"/>
              </a:ext>
            </a:extLst>
          </p:cNvPr>
          <p:cNvSpPr txBox="1"/>
          <p:nvPr/>
        </p:nvSpPr>
        <p:spPr>
          <a:xfrm>
            <a:off x="762000" y="5905500"/>
            <a:ext cx="590550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300">
                <a:solidFill>
                  <a:srgbClr val="8FA6C8"/>
                </a:solidFill>
                <a:latin typeface="Segoe UI"/>
                <a:ea typeface="Segoe UI"/>
              </a:rPr>
              <a:t>React 18  ·  Node.js / Express  ·  PostgreSQL  ·  Docker alternative included</a:t>
            </a:r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33C8A902-9AA7-4C2F-A099-01B8993F5B68}"/>
              </a:ext>
            </a:extLst>
          </p:cNvPr>
          <p:cNvSpPr/>
          <p:nvPr/>
        </p:nvSpPr>
        <p:spPr>
          <a:xfrm>
            <a:off x="7924800" y="1524000"/>
            <a:ext cx="3429000" cy="952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C"/>
            </a:solidFill>
          </a:ln>
        </p:spPr>
        <p:txBody>
          <a:bodyPr wrap="square" rtlCol="0" lIns="0" tIns="0" rIns="0" bIns="0" anchor="ctr"/>
          <a:lstStyle/>
          <a:p>
            <a:pPr algn="ctr"/>
            <a:r>
              <a:rPr sz="1600" b="1">
                <a:solidFill>
                  <a:srgbClr val="1A2433"/>
                </a:solidFill>
                <a:latin typeface="Segoe UI"/>
                <a:ea typeface="Segoe UI"/>
              </a:rPr>
              <a:t>Owner &amp; Tenants</a:t>
            </a:r>
          </a:p>
          <a:p>
            <a:pPr algn="ctr"/>
            <a:r>
              <a:rPr sz="1200">
                <a:solidFill>
                  <a:srgbClr val="5B6B84"/>
                </a:solidFill>
                <a:latin typeface="Segoe UI"/>
                <a:ea typeface="Segoe UI"/>
              </a:rPr>
              <a:t>two roles, one login</a:t>
            </a:r>
          </a:p>
        </p:txBody>
      </p:sp>
      <p:sp>
        <p:nvSpPr>
          <p:cNvPr id="12" name="Shape 12">
            <a:extLst>
              <a:ext uri="{FF2B5EF4-FFF2-40B4-BE49-F238E27FC236}">
                <a16:creationId xmlns:a16="http://schemas.microsoft.com/office/drawing/2014/main" id="{D5843EA1-5D84-4EA4-B3DB-86DB0376CC6D}"/>
              </a:ext>
            </a:extLst>
          </p:cNvPr>
          <p:cNvSpPr/>
          <p:nvPr/>
        </p:nvSpPr>
        <p:spPr>
          <a:xfrm>
            <a:off x="9515475" y="2552700"/>
            <a:ext cx="247650" cy="342900"/>
          </a:xfrm>
          <a:prstGeom prst="downArrow">
            <a:avLst/>
          </a:prstGeom>
          <a:solidFill>
            <a:srgbClr val="2563EB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3" name="Shape 13">
            <a:extLst>
              <a:ext uri="{FF2B5EF4-FFF2-40B4-BE49-F238E27FC236}">
                <a16:creationId xmlns:a16="http://schemas.microsoft.com/office/drawing/2014/main" id="{B6413425-3BCE-43EA-989F-BA222994EA04}"/>
              </a:ext>
            </a:extLst>
          </p:cNvPr>
          <p:cNvSpPr/>
          <p:nvPr/>
        </p:nvSpPr>
        <p:spPr>
          <a:xfrm>
            <a:off x="7924800" y="2971800"/>
            <a:ext cx="3429000" cy="952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C"/>
            </a:solidFill>
          </a:ln>
        </p:spPr>
        <p:txBody>
          <a:bodyPr wrap="square" rtlCol="0" lIns="0" tIns="0" rIns="0" bIns="0" anchor="ctr"/>
          <a:lstStyle/>
          <a:p>
            <a:pPr algn="ctr"/>
            <a:r>
              <a:rPr sz="1600" b="1">
                <a:solidFill>
                  <a:srgbClr val="1A2433"/>
                </a:solidFill>
                <a:latin typeface="Segoe UI"/>
                <a:ea typeface="Segoe UI"/>
              </a:rPr>
              <a:t>Browser</a:t>
            </a:r>
          </a:p>
          <a:p>
            <a:pPr algn="ctr"/>
            <a:r>
              <a:rPr sz="1200">
                <a:solidFill>
                  <a:srgbClr val="5B6B84"/>
                </a:solidFill>
                <a:latin typeface="Segoe UI"/>
                <a:ea typeface="Segoe UI"/>
              </a:rPr>
              <a:t>React 18 SPA over HTTPS</a:t>
            </a:r>
          </a:p>
        </p:txBody>
      </p:sp>
      <p:sp>
        <p:nvSpPr>
          <p:cNvPr id="14" name="Shape 14">
            <a:extLst>
              <a:ext uri="{FF2B5EF4-FFF2-40B4-BE49-F238E27FC236}">
                <a16:creationId xmlns:a16="http://schemas.microsoft.com/office/drawing/2014/main" id="{7BD04C9D-43C9-48C8-B6D2-68F80B8F347C}"/>
              </a:ext>
            </a:extLst>
          </p:cNvPr>
          <p:cNvSpPr/>
          <p:nvPr/>
        </p:nvSpPr>
        <p:spPr>
          <a:xfrm>
            <a:off x="9515475" y="4000500"/>
            <a:ext cx="247650" cy="342900"/>
          </a:xfrm>
          <a:prstGeom prst="downArrow">
            <a:avLst/>
          </a:prstGeom>
          <a:solidFill>
            <a:srgbClr val="2563EB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5" name="Shape 15">
            <a:extLst>
              <a:ext uri="{FF2B5EF4-FFF2-40B4-BE49-F238E27FC236}">
                <a16:creationId xmlns:a16="http://schemas.microsoft.com/office/drawing/2014/main" id="{D8A811DF-C2CD-4698-AE8B-A90400E61D9F}"/>
              </a:ext>
            </a:extLst>
          </p:cNvPr>
          <p:cNvSpPr/>
          <p:nvPr/>
        </p:nvSpPr>
        <p:spPr>
          <a:xfrm>
            <a:off x="7924800" y="4419600"/>
            <a:ext cx="3429000" cy="952500"/>
          </a:xfrm>
          <a:prstGeom prst="roundRect">
            <a:avLst/>
          </a:prstGeom>
          <a:solidFill>
            <a:srgbClr val="0F766E"/>
          </a:solidFill>
        </p:spPr>
        <p:txBody>
          <a:bodyPr wrap="square" rtlCol="0" lIns="0" tIns="0" rIns="0" bIns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  <a:ea typeface="Segoe UI"/>
              </a:rPr>
              <a:t>AWS Cloud</a:t>
            </a:r>
          </a:p>
          <a:p>
            <a:pPr algn="ctr"/>
            <a:r>
              <a:rPr sz="1200">
                <a:solidFill>
                  <a:srgbClr val="CBE9E4"/>
                </a:solidFill>
                <a:latin typeface="Segoe UI"/>
                <a:ea typeface="Segoe UI"/>
              </a:rPr>
              <a:t>EC2 · RDS · Nginx · Let's Encrypt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12791DB7-8141-42FD-8738-E8815F90F1BA}"/>
              </a:ext>
            </a:extLst>
          </p:cNvPr>
          <p:cNvSpPr txBox="1"/>
          <p:nvPr/>
        </p:nvSpPr>
        <p:spPr>
          <a:xfrm>
            <a:off x="762000" y="495300"/>
            <a:ext cx="476250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300" b="1">
                <a:solidFill>
                  <a:srgbClr val="2563EB"/>
                </a:solidFill>
                <a:latin typeface="Segoe UI"/>
                <a:ea typeface="Segoe UI"/>
              </a:rPr>
              <a:t>THE APPLICATION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42BB6079-863B-4022-8679-8246D584A4C8}"/>
              </a:ext>
            </a:extLst>
          </p:cNvPr>
          <p:cNvSpPr txBox="1"/>
          <p:nvPr/>
        </p:nvSpPr>
        <p:spPr>
          <a:xfrm>
            <a:off x="762000" y="762000"/>
            <a:ext cx="10668000" cy="533400"/>
          </a:xfrm>
        </p:spPr>
        <p:txBody>
          <a:bodyPr wrap="square" rtlCol="0" lIns="0" tIns="0" rIns="0" bIns="0" anchor="t"/>
          <a:lstStyle/>
          <a:p>
            <a:pPr algn="l"/>
            <a:r>
              <a:rPr sz="3200" b="1">
                <a:solidFill>
                  <a:srgbClr val="1A2433"/>
                </a:solidFill>
                <a:latin typeface="Segoe UI"/>
                <a:ea typeface="Segoe UI"/>
              </a:rPr>
              <a:t>What the application does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91E6F059-EE46-4990-8810-B82A84FB57B3}"/>
              </a:ext>
            </a:extLst>
          </p:cNvPr>
          <p:cNvSpPr txBox="1"/>
          <p:nvPr/>
        </p:nvSpPr>
        <p:spPr>
          <a:xfrm>
            <a:off x="762000" y="1333500"/>
            <a:ext cx="10668000" cy="285750"/>
          </a:xfrm>
        </p:spPr>
        <p:txBody>
          <a:bodyPr wrap="square" rtlCol="0" lIns="0" tIns="0" rIns="0" bIns="0" anchor="t"/>
          <a:lstStyle/>
          <a:p>
            <a:pPr algn="l"/>
            <a:r>
              <a:rPr sz="1500">
                <a:solidFill>
                  <a:srgbClr val="5B6B84"/>
                </a:solidFill>
                <a:latin typeface="Segoe UI"/>
                <a:ea typeface="Segoe UI"/>
              </a:rPr>
              <a:t>Replaces the register-and-WhatsApp workflow of a PG house with one secure web system.</a:t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83E9F669-35E0-4130-9DFF-360F5B6D254B}"/>
              </a:ext>
            </a:extLst>
          </p:cNvPr>
          <p:cNvSpPr/>
          <p:nvPr/>
        </p:nvSpPr>
        <p:spPr>
          <a:xfrm>
            <a:off x="762000" y="1905000"/>
            <a:ext cx="3400425" cy="4000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C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84AC1944-D25C-4ED2-86E3-1F2CAA4C590D}"/>
              </a:ext>
            </a:extLst>
          </p:cNvPr>
          <p:cNvSpPr txBox="1"/>
          <p:nvPr/>
        </p:nvSpPr>
        <p:spPr>
          <a:xfrm>
            <a:off x="1066800" y="2171700"/>
            <a:ext cx="2790825" cy="381000"/>
          </a:xfrm>
        </p:spPr>
        <p:txBody>
          <a:bodyPr wrap="square" rtlCol="0" lIns="0" tIns="0" rIns="0" bIns="0" anchor="t"/>
          <a:lstStyle/>
          <a:p>
            <a:pPr algn="l"/>
            <a:r>
              <a:rPr sz="1800" b="1">
                <a:solidFill>
                  <a:srgbClr val="1A2433"/>
                </a:solidFill>
                <a:latin typeface="Segoe UI"/>
                <a:ea typeface="Segoe UI"/>
              </a:rPr>
              <a:t>Owner (admin)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34E3536E-5C88-4F2A-A5A1-365DBE7DF591}"/>
              </a:ext>
            </a:extLst>
          </p:cNvPr>
          <p:cNvSpPr txBox="1"/>
          <p:nvPr/>
        </p:nvSpPr>
        <p:spPr>
          <a:xfrm>
            <a:off x="1066800" y="2647950"/>
            <a:ext cx="2790825" cy="2857500"/>
          </a:xfrm>
        </p:spPr>
        <p:txBody>
          <a:bodyPr wrap="square" rtlCol="0" lIns="0" tIns="0" rIns="0" bIns="0" anchor="t"/>
          <a:lstStyle/>
          <a:p>
            <a:pPr marL="228600" indent="-228600" algn="l">
              <a:lnSpc>
                <a:spcPct val="120000"/>
              </a:lnSpc>
              <a:spcAft>
                <a:spcPts val="1000"/>
              </a:spcAft>
              <a:buChar char="•"/>
            </a:pPr>
            <a:r>
              <a:rPr sz="1300">
                <a:solidFill>
                  <a:srgbClr val="1A2433"/>
                </a:solidFill>
                <a:latin typeface="Segoe UI"/>
                <a:ea typeface="Segoe UI"/>
              </a:rPr>
              <a:t>Dashboard: occupancy, income vs expense</a:t>
            </a:r>
          </a:p>
          <a:p>
            <a:pPr marL="228600" indent="-228600" algn="l">
              <a:lnSpc>
                <a:spcPct val="120000"/>
              </a:lnSpc>
              <a:spcAft>
                <a:spcPts val="1000"/>
              </a:spcAft>
              <a:buChar char="•"/>
            </a:pPr>
            <a:r>
              <a:rPr sz="1300">
                <a:solidFill>
                  <a:srgbClr val="1A2433"/>
                </a:solidFill>
                <a:latin typeface="Segoe UI"/>
                <a:ea typeface="Segoe UI"/>
              </a:rPr>
              <a:t>Rooms by floor with live bed counts</a:t>
            </a:r>
          </a:p>
          <a:p>
            <a:pPr marL="228600" indent="-228600" algn="l">
              <a:lnSpc>
                <a:spcPct val="120000"/>
              </a:lnSpc>
              <a:spcAft>
                <a:spcPts val="1000"/>
              </a:spcAft>
              <a:buChar char="•"/>
            </a:pPr>
            <a:r>
              <a:rPr sz="1300">
                <a:solidFill>
                  <a:srgbClr val="1A2433"/>
                </a:solidFill>
                <a:latin typeface="Segoe UI"/>
                <a:ea typeface="Segoe UI"/>
              </a:rPr>
              <a:t>Approve or reject rent UPI proofs</a:t>
            </a:r>
          </a:p>
          <a:p>
            <a:pPr marL="228600" indent="-228600" algn="l">
              <a:lnSpc>
                <a:spcPct val="120000"/>
              </a:lnSpc>
              <a:spcAft>
                <a:spcPts val="1000"/>
              </a:spcAft>
              <a:buChar char="•"/>
            </a:pPr>
            <a:r>
              <a:rPr sz="1300">
                <a:solidFill>
                  <a:srgbClr val="1A2433"/>
                </a:solidFill>
                <a:latin typeface="Segoe UI"/>
                <a:ea typeface="Segoe UI"/>
              </a:rPr>
              <a:t>Complaints, notices, expenses</a:t>
            </a:r>
          </a:p>
          <a:p>
            <a:pPr marL="228600" indent="-228600" algn="l">
              <a:lnSpc>
                <a:spcPct val="120000"/>
              </a:lnSpc>
              <a:spcAft>
                <a:spcPts val="1000"/>
              </a:spcAft>
              <a:buChar char="•"/>
            </a:pPr>
            <a:r>
              <a:rPr sz="1300">
                <a:solidFill>
                  <a:srgbClr val="1A2433"/>
                </a:solidFill>
                <a:latin typeface="Segoe UI"/>
                <a:ea typeface="Segoe UI"/>
              </a:rPr>
              <a:t>Dues report + CSV export</a:t>
            </a:r>
          </a:p>
          <a:p>
            <a:pPr marL="228600" indent="-228600" algn="l">
              <a:lnSpc>
                <a:spcPct val="120000"/>
              </a:lnSpc>
              <a:spcAft>
                <a:spcPts val="1000"/>
              </a:spcAft>
              <a:buChar char="•"/>
            </a:pPr>
            <a:r>
              <a:rPr sz="1300">
                <a:solidFill>
                  <a:srgbClr val="1A2433"/>
                </a:solidFill>
                <a:latin typeface="Segoe UI"/>
                <a:ea typeface="Segoe UI"/>
              </a:rPr>
              <a:t>Full activity audit log</a:t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F6681668-8A6E-4F64-A017-B788D0995573}"/>
              </a:ext>
            </a:extLst>
          </p:cNvPr>
          <p:cNvSpPr/>
          <p:nvPr/>
        </p:nvSpPr>
        <p:spPr>
          <a:xfrm>
            <a:off x="4391025" y="1905000"/>
            <a:ext cx="3400425" cy="4000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C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2DA5DB28-3995-4095-8AA3-01DDF6F73F2F}"/>
              </a:ext>
            </a:extLst>
          </p:cNvPr>
          <p:cNvSpPr txBox="1"/>
          <p:nvPr/>
        </p:nvSpPr>
        <p:spPr>
          <a:xfrm>
            <a:off x="4695825" y="2171700"/>
            <a:ext cx="2790825" cy="381000"/>
          </a:xfrm>
        </p:spPr>
        <p:txBody>
          <a:bodyPr wrap="square" rtlCol="0" lIns="0" tIns="0" rIns="0" bIns="0" anchor="t"/>
          <a:lstStyle/>
          <a:p>
            <a:pPr algn="l"/>
            <a:r>
              <a:rPr sz="1800" b="1">
                <a:solidFill>
                  <a:srgbClr val="1A2433"/>
                </a:solidFill>
                <a:latin typeface="Segoe UI"/>
                <a:ea typeface="Segoe UI"/>
              </a:rPr>
              <a:t>Tenant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A54F8D06-C0EE-40E1-BDCE-63002EA0BBCE}"/>
              </a:ext>
            </a:extLst>
          </p:cNvPr>
          <p:cNvSpPr txBox="1"/>
          <p:nvPr/>
        </p:nvSpPr>
        <p:spPr>
          <a:xfrm>
            <a:off x="4695825" y="2647950"/>
            <a:ext cx="2790825" cy="2857500"/>
          </a:xfrm>
        </p:spPr>
        <p:txBody>
          <a:bodyPr wrap="square" rtlCol="0" lIns="0" tIns="0" rIns="0" bIns="0" anchor="t"/>
          <a:lstStyle/>
          <a:p>
            <a:pPr marL="228600" indent="-228600" algn="l">
              <a:lnSpc>
                <a:spcPct val="120000"/>
              </a:lnSpc>
              <a:spcAft>
                <a:spcPts val="1000"/>
              </a:spcAft>
              <a:buChar char="•"/>
            </a:pPr>
            <a:r>
              <a:rPr sz="1300">
                <a:solidFill>
                  <a:srgbClr val="1A2433"/>
                </a:solidFill>
                <a:latin typeface="Segoe UI"/>
                <a:ea typeface="Segoe UI"/>
              </a:rPr>
              <a:t>Room, rent and monthly status</a:t>
            </a:r>
          </a:p>
          <a:p>
            <a:pPr marL="228600" indent="-228600" algn="l">
              <a:lnSpc>
                <a:spcPct val="120000"/>
              </a:lnSpc>
              <a:spcAft>
                <a:spcPts val="1000"/>
              </a:spcAft>
              <a:buChar char="•"/>
            </a:pPr>
            <a:r>
              <a:rPr sz="1300">
                <a:solidFill>
                  <a:srgbClr val="1A2433"/>
                </a:solidFill>
                <a:latin typeface="Segoe UI"/>
                <a:ea typeface="Segoe UI"/>
              </a:rPr>
              <a:t>Upload payment proof, track approval</a:t>
            </a:r>
          </a:p>
          <a:p>
            <a:pPr marL="228600" indent="-228600" algn="l">
              <a:lnSpc>
                <a:spcPct val="120000"/>
              </a:lnSpc>
              <a:spcAft>
                <a:spcPts val="1000"/>
              </a:spcAft>
              <a:buChar char="•"/>
            </a:pPr>
            <a:r>
              <a:rPr sz="1300">
                <a:solidFill>
                  <a:srgbClr val="1A2433"/>
                </a:solidFill>
                <a:latin typeface="Segoe UI"/>
                <a:ea typeface="Segoe UI"/>
              </a:rPr>
              <a:t>View and print receipts</a:t>
            </a:r>
          </a:p>
          <a:p>
            <a:pPr marL="228600" indent="-228600" algn="l">
              <a:lnSpc>
                <a:spcPct val="120000"/>
              </a:lnSpc>
              <a:spcAft>
                <a:spcPts val="1000"/>
              </a:spcAft>
              <a:buChar char="•"/>
            </a:pPr>
            <a:r>
              <a:rPr sz="1300">
                <a:solidFill>
                  <a:srgbClr val="1A2433"/>
                </a:solidFill>
                <a:latin typeface="Segoe UI"/>
                <a:ea typeface="Segoe UI"/>
              </a:rPr>
              <a:t>Raise complaints, read replies</a:t>
            </a:r>
          </a:p>
          <a:p>
            <a:pPr marL="228600" indent="-228600" algn="l">
              <a:lnSpc>
                <a:spcPct val="120000"/>
              </a:lnSpc>
              <a:spcAft>
                <a:spcPts val="1000"/>
              </a:spcAft>
              <a:buChar char="•"/>
            </a:pPr>
            <a:r>
              <a:rPr sz="1300">
                <a:solidFill>
                  <a:srgbClr val="1A2433"/>
                </a:solidFill>
                <a:latin typeface="Segoe UI"/>
                <a:ea typeface="Segoe UI"/>
              </a:rPr>
              <a:t>Notice board, profile, password</a:t>
            </a:r>
          </a:p>
        </p:txBody>
      </p:sp>
      <p:sp>
        <p:nvSpPr>
          <p:cNvPr id="12" name="Shape 12">
            <a:extLst>
              <a:ext uri="{FF2B5EF4-FFF2-40B4-BE49-F238E27FC236}">
                <a16:creationId xmlns:a16="http://schemas.microsoft.com/office/drawing/2014/main" id="{35D0561C-44BE-4D03-942A-3E0973CAE4D3}"/>
              </a:ext>
            </a:extLst>
          </p:cNvPr>
          <p:cNvSpPr/>
          <p:nvPr/>
        </p:nvSpPr>
        <p:spPr>
          <a:xfrm>
            <a:off x="8020050" y="1905000"/>
            <a:ext cx="3400425" cy="4000500"/>
          </a:xfrm>
          <a:prstGeom prst="roundRect">
            <a:avLst/>
          </a:prstGeom>
          <a:solidFill>
            <a:srgbClr val="0E1F38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98BCF415-AE5F-42E9-9347-69599346D8B8}"/>
              </a:ext>
            </a:extLst>
          </p:cNvPr>
          <p:cNvSpPr txBox="1"/>
          <p:nvPr/>
        </p:nvSpPr>
        <p:spPr>
          <a:xfrm>
            <a:off x="8324850" y="2171700"/>
            <a:ext cx="2790825" cy="381000"/>
          </a:xfrm>
        </p:spPr>
        <p:txBody>
          <a:bodyPr wrap="square" rtlCol="0" lIns="0" tIns="0" rIns="0" bIns="0" anchor="t"/>
          <a:lstStyle/>
          <a:p>
            <a:pPr algn="l"/>
            <a:r>
              <a:rPr sz="1800" b="1">
                <a:solidFill>
                  <a:srgbClr val="FFFFFF"/>
                </a:solidFill>
                <a:latin typeface="Segoe UI"/>
                <a:ea typeface="Segoe UI"/>
              </a:rPr>
              <a:t>Tech stack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2106CF4D-5A61-4E8B-9428-6AE6CA263A30}"/>
              </a:ext>
            </a:extLst>
          </p:cNvPr>
          <p:cNvSpPr txBox="1"/>
          <p:nvPr/>
        </p:nvSpPr>
        <p:spPr>
          <a:xfrm>
            <a:off x="8324850" y="2647950"/>
            <a:ext cx="2790825" cy="2857500"/>
          </a:xfrm>
        </p:spPr>
        <p:txBody>
          <a:bodyPr wrap="square" rtlCol="0" lIns="0" tIns="0" rIns="0" bIns="0" anchor="t"/>
          <a:lstStyle/>
          <a:p>
            <a:pPr marL="228600" indent="-228600" algn="l">
              <a:lnSpc>
                <a:spcPct val="120000"/>
              </a:lnSpc>
              <a:spcAft>
                <a:spcPts val="1000"/>
              </a:spcAft>
              <a:buChar char="•"/>
            </a:pPr>
            <a:r>
              <a:rPr sz="1300">
                <a:solidFill>
                  <a:srgbClr val="E6EDF7"/>
                </a:solidFill>
                <a:latin typeface="Segoe UI"/>
                <a:ea typeface="Segoe UI"/>
              </a:rPr>
              <a:t>React 18 + Vite single-page app</a:t>
            </a:r>
          </a:p>
          <a:p>
            <a:pPr marL="228600" indent="-228600" algn="l">
              <a:lnSpc>
                <a:spcPct val="120000"/>
              </a:lnSpc>
              <a:spcAft>
                <a:spcPts val="1000"/>
              </a:spcAft>
              <a:buChar char="•"/>
            </a:pPr>
            <a:r>
              <a:rPr sz="1300">
                <a:solidFill>
                  <a:srgbClr val="E6EDF7"/>
                </a:solidFill>
                <a:latin typeface="Segoe UI"/>
                <a:ea typeface="Segoe UI"/>
              </a:rPr>
              <a:t>Node.js + Express REST API</a:t>
            </a:r>
          </a:p>
          <a:p>
            <a:pPr marL="228600" indent="-228600" algn="l">
              <a:lnSpc>
                <a:spcPct val="120000"/>
              </a:lnSpc>
              <a:spcAft>
                <a:spcPts val="1000"/>
              </a:spcAft>
              <a:buChar char="•"/>
            </a:pPr>
            <a:r>
              <a:rPr sz="1300">
                <a:solidFill>
                  <a:srgbClr val="E6EDF7"/>
                </a:solidFill>
                <a:latin typeface="Segoe UI"/>
                <a:ea typeface="Segoe UI"/>
              </a:rPr>
              <a:t>PostgreSQL 16, parameterised SQL</a:t>
            </a:r>
          </a:p>
          <a:p>
            <a:pPr marL="228600" indent="-228600" algn="l">
              <a:lnSpc>
                <a:spcPct val="120000"/>
              </a:lnSpc>
              <a:spcAft>
                <a:spcPts val="1000"/>
              </a:spcAft>
              <a:buChar char="•"/>
            </a:pPr>
            <a:r>
              <a:rPr sz="1300">
                <a:solidFill>
                  <a:srgbClr val="E6EDF7"/>
                </a:solidFill>
                <a:latin typeface="Segoe UI"/>
                <a:ea typeface="Segoe UI"/>
              </a:rPr>
              <a:t>bcrypt passwords, JWT httpOnly cookie</a:t>
            </a:r>
          </a:p>
          <a:p>
            <a:pPr marL="228600" indent="-228600" algn="l">
              <a:lnSpc>
                <a:spcPct val="120000"/>
              </a:lnSpc>
              <a:spcAft>
                <a:spcPts val="1000"/>
              </a:spcAft>
              <a:buChar char="•"/>
            </a:pPr>
            <a:r>
              <a:rPr sz="1300">
                <a:solidFill>
                  <a:srgbClr val="E6EDF7"/>
                </a:solidFill>
                <a:latin typeface="Segoe UI"/>
                <a:ea typeface="Segoe UI"/>
              </a:rPr>
              <a:t>zod validation on every request body</a:t>
            </a:r>
          </a:p>
          <a:p>
            <a:pPr marL="228600" indent="-228600" algn="l">
              <a:lnSpc>
                <a:spcPct val="120000"/>
              </a:lnSpc>
              <a:spcAft>
                <a:spcPts val="1000"/>
              </a:spcAft>
              <a:buChar char="•"/>
            </a:pPr>
            <a:r>
              <a:rPr sz="1300">
                <a:solidFill>
                  <a:srgbClr val="E6EDF7"/>
                </a:solidFill>
                <a:latin typeface="Segoe UI"/>
                <a:ea typeface="Segoe UI"/>
              </a:rPr>
              <a:t>15 automated API tests (pg-mem)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4DB6BC12-619E-41CE-B6EC-208804C76FEC}"/>
              </a:ext>
            </a:extLst>
          </p:cNvPr>
          <p:cNvSpPr txBox="1"/>
          <p:nvPr/>
        </p:nvSpPr>
        <p:spPr>
          <a:xfrm>
            <a:off x="762000" y="495300"/>
            <a:ext cx="476250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300" b="1">
                <a:solidFill>
                  <a:srgbClr val="2563EB"/>
                </a:solidFill>
                <a:latin typeface="Segoe UI"/>
                <a:ea typeface="Segoe UI"/>
              </a:rPr>
              <a:t>CLOUD ARCHITECTURE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568DD791-3228-4DD1-9246-9266B4806A10}"/>
              </a:ext>
            </a:extLst>
          </p:cNvPr>
          <p:cNvSpPr txBox="1"/>
          <p:nvPr/>
        </p:nvSpPr>
        <p:spPr>
          <a:xfrm>
            <a:off x="762000" y="762000"/>
            <a:ext cx="10668000" cy="533400"/>
          </a:xfrm>
        </p:spPr>
        <p:txBody>
          <a:bodyPr wrap="square" rtlCol="0" lIns="0" tIns="0" rIns="0" bIns="0" anchor="t"/>
          <a:lstStyle/>
          <a:p>
            <a:pPr algn="l"/>
            <a:r>
              <a:rPr sz="3200" b="1">
                <a:solidFill>
                  <a:srgbClr val="1A2433"/>
                </a:solidFill>
                <a:latin typeface="Segoe UI"/>
                <a:ea typeface="Segoe UI"/>
              </a:rPr>
              <a:t>One request, four stops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3429B252-0C0D-473E-9A22-D0012D8192EF}"/>
              </a:ext>
            </a:extLst>
          </p:cNvPr>
          <p:cNvSpPr txBox="1"/>
          <p:nvPr/>
        </p:nvSpPr>
        <p:spPr>
          <a:xfrm>
            <a:off x="762000" y="1333500"/>
            <a:ext cx="10668000" cy="285750"/>
          </a:xfrm>
        </p:spPr>
        <p:txBody>
          <a:bodyPr wrap="square" rtlCol="0" lIns="0" tIns="0" rIns="0" bIns="0" anchor="t"/>
          <a:lstStyle/>
          <a:p>
            <a:pPr algn="l"/>
            <a:r>
              <a:rPr sz="1500">
                <a:solidFill>
                  <a:srgbClr val="5B6B84"/>
                </a:solidFill>
                <a:latin typeface="Segoe UI"/>
                <a:ea typeface="Segoe UI"/>
              </a:rPr>
              <a:t>Browser → Nginx → Node/Express → PostgreSQL — nothing is exposed that shouldn't be.</a:t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EBD8D26B-F962-4CEB-A237-23EBA68E2A99}"/>
              </a:ext>
            </a:extLst>
          </p:cNvPr>
          <p:cNvSpPr/>
          <p:nvPr/>
        </p:nvSpPr>
        <p:spPr>
          <a:xfrm>
            <a:off x="762000" y="1981200"/>
            <a:ext cx="342900" cy="342900"/>
          </a:xfrm>
          <a:prstGeom prst="ellipse">
            <a:avLst/>
          </a:prstGeom>
          <a:solidFill>
            <a:srgbClr val="2563EB"/>
          </a:solidFill>
        </p:spPr>
        <p:txBody>
          <a:bodyPr wrap="square" rtlCol="0" lIns="0" tIns="0" rIns="0" bIns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  <a:ea typeface="Segoe UI"/>
              </a:rPr>
              <a:t>1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6F1782D8-FE72-4A7D-8F15-0D78D6C54EA5}"/>
              </a:ext>
            </a:extLst>
          </p:cNvPr>
          <p:cNvSpPr txBox="1"/>
          <p:nvPr/>
        </p:nvSpPr>
        <p:spPr>
          <a:xfrm>
            <a:off x="1257300" y="1962150"/>
            <a:ext cx="3048000" cy="649224"/>
          </a:xfrm>
        </p:spPr>
        <p:txBody>
          <a:bodyPr wrap="square" rtlCol="0" lIns="0" tIns="0" rIns="0" bIns="0" anchor="t"/>
          <a:lstStyle/>
          <a:p>
            <a:pPr algn="l"/>
            <a:r>
              <a:rPr sz="1500" b="1">
                <a:solidFill>
                  <a:srgbClr val="1A2433"/>
                </a:solidFill>
                <a:latin typeface="Segoe UI"/>
                <a:ea typeface="Segoe UI"/>
              </a:rPr>
              <a:t>Browser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5B6B84"/>
                </a:solidFill>
                <a:latin typeface="Segoe UI"/>
                <a:ea typeface="Segoe UI"/>
              </a:rPr>
              <a:t>React SPA, fetch with httpOnly cookie over HTTPS only (HSTS)</a:t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31F42237-5E15-47CD-8B49-B6622F001A19}"/>
              </a:ext>
            </a:extLst>
          </p:cNvPr>
          <p:cNvSpPr/>
          <p:nvPr/>
        </p:nvSpPr>
        <p:spPr>
          <a:xfrm>
            <a:off x="762000" y="2914650"/>
            <a:ext cx="342900" cy="342900"/>
          </a:xfrm>
          <a:prstGeom prst="ellipse">
            <a:avLst/>
          </a:prstGeom>
          <a:solidFill>
            <a:srgbClr val="2563EB"/>
          </a:solidFill>
        </p:spPr>
        <p:txBody>
          <a:bodyPr wrap="square" rtlCol="0" lIns="0" tIns="0" rIns="0" bIns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  <a:ea typeface="Segoe UI"/>
              </a:rPr>
              <a:t>2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6E3B2CD6-DF47-439E-A03D-11BE3643E840}"/>
              </a:ext>
            </a:extLst>
          </p:cNvPr>
          <p:cNvSpPr txBox="1"/>
          <p:nvPr/>
        </p:nvSpPr>
        <p:spPr>
          <a:xfrm>
            <a:off x="1257300" y="2895600"/>
            <a:ext cx="3048000" cy="649224"/>
          </a:xfrm>
        </p:spPr>
        <p:txBody>
          <a:bodyPr wrap="square" rtlCol="0" lIns="0" tIns="0" rIns="0" bIns="0" anchor="t"/>
          <a:lstStyle/>
          <a:p>
            <a:pPr algn="l"/>
            <a:r>
              <a:rPr sz="1500" b="1">
                <a:solidFill>
                  <a:srgbClr val="1A2433"/>
                </a:solidFill>
                <a:latin typeface="Segoe UI"/>
                <a:ea typeface="Segoe UI"/>
              </a:rPr>
              <a:t>Nginx on the EC2 instance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5B6B84"/>
                </a:solidFill>
                <a:latin typeface="Segoe UI"/>
                <a:ea typeface="Segoe UI"/>
              </a:rPr>
              <a:t>Reverse proxy, free TLS certificates from Let's Encrypt</a:t>
            </a:r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DA28105D-FDC4-45D3-91DB-01253B1467ED}"/>
              </a:ext>
            </a:extLst>
          </p:cNvPr>
          <p:cNvSpPr/>
          <p:nvPr/>
        </p:nvSpPr>
        <p:spPr>
          <a:xfrm>
            <a:off x="762000" y="3848100"/>
            <a:ext cx="342900" cy="342900"/>
          </a:xfrm>
          <a:prstGeom prst="ellipse">
            <a:avLst/>
          </a:prstGeom>
          <a:solidFill>
            <a:srgbClr val="2563EB"/>
          </a:solidFill>
        </p:spPr>
        <p:txBody>
          <a:bodyPr wrap="square" rtlCol="0" lIns="0" tIns="0" rIns="0" bIns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  <a:ea typeface="Segoe UI"/>
              </a:rPr>
              <a:t>3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1C7D0056-D93C-4D9E-A206-1AC429E89B7E}"/>
              </a:ext>
            </a:extLst>
          </p:cNvPr>
          <p:cNvSpPr txBox="1"/>
          <p:nvPr/>
        </p:nvSpPr>
        <p:spPr>
          <a:xfrm>
            <a:off x="1257300" y="3829050"/>
            <a:ext cx="3048000" cy="649224"/>
          </a:xfrm>
        </p:spPr>
        <p:txBody>
          <a:bodyPr wrap="square" rtlCol="0" lIns="0" tIns="0" rIns="0" bIns="0" anchor="t"/>
          <a:lstStyle/>
          <a:p>
            <a:pPr algn="l"/>
            <a:r>
              <a:rPr sz="1500" b="1">
                <a:solidFill>
                  <a:srgbClr val="1A2433"/>
                </a:solidFill>
                <a:latin typeface="Segoe UI"/>
                <a:ea typeface="Segoe UI"/>
              </a:rPr>
              <a:t>Node / Express on :5000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5B6B84"/>
                </a:solidFill>
                <a:latin typeface="Segoe UI"/>
                <a:ea typeface="Segoe UI"/>
              </a:rPr>
              <a:t>One process serves the REST API and the built React app, kept alive by PM2</a:t>
            </a:r>
          </a:p>
        </p:txBody>
      </p:sp>
      <p:sp>
        <p:nvSpPr>
          <p:cNvPr id="12" name="Shape 12">
            <a:extLst>
              <a:ext uri="{FF2B5EF4-FFF2-40B4-BE49-F238E27FC236}">
                <a16:creationId xmlns:a16="http://schemas.microsoft.com/office/drawing/2014/main" id="{DB095E55-B94E-4F33-97F8-A938D59FD80E}"/>
              </a:ext>
            </a:extLst>
          </p:cNvPr>
          <p:cNvSpPr/>
          <p:nvPr/>
        </p:nvSpPr>
        <p:spPr>
          <a:xfrm>
            <a:off x="762000" y="4781550"/>
            <a:ext cx="342900" cy="342900"/>
          </a:xfrm>
          <a:prstGeom prst="ellipse">
            <a:avLst/>
          </a:prstGeom>
          <a:solidFill>
            <a:srgbClr val="2563EB"/>
          </a:solidFill>
        </p:spPr>
        <p:txBody>
          <a:bodyPr wrap="square" rtlCol="0" lIns="0" tIns="0" rIns="0" bIns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  <a:ea typeface="Segoe UI"/>
              </a:rPr>
              <a:t>4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5212F9F2-D48C-4169-96FC-8FBB0E652785}"/>
              </a:ext>
            </a:extLst>
          </p:cNvPr>
          <p:cNvSpPr txBox="1"/>
          <p:nvPr/>
        </p:nvSpPr>
        <p:spPr>
          <a:xfrm>
            <a:off x="1257300" y="4762500"/>
            <a:ext cx="3048000" cy="649224"/>
          </a:xfrm>
        </p:spPr>
        <p:txBody>
          <a:bodyPr wrap="square" rtlCol="0" lIns="0" tIns="0" rIns="0" bIns="0" anchor="t"/>
          <a:lstStyle/>
          <a:p>
            <a:pPr algn="l"/>
            <a:r>
              <a:rPr sz="1500" b="1">
                <a:solidFill>
                  <a:srgbClr val="1A2433"/>
                </a:solidFill>
                <a:latin typeface="Segoe UI"/>
                <a:ea typeface="Segoe UI"/>
              </a:rPr>
              <a:t>RDS PostgreSQL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5B6B84"/>
                </a:solidFill>
                <a:latin typeface="Segoe UI"/>
                <a:ea typeface="Segoe UI"/>
              </a:rPr>
              <a:t>Private endpoint with SSL — reachable only from the web server's security group</a:t>
            </a:r>
          </a:p>
        </p:txBody>
      </p:sp>
      <p:pic>
        <p:nvPicPr>
          <p:cNvPr id="14" name="Picture 14">
            <a:extLst>
              <a:ext uri="{FF2B5EF4-FFF2-40B4-BE49-F238E27FC236}">
                <a16:creationId xmlns:a16="http://schemas.microsoft.com/office/drawing/2014/main" id="{24ABCEA0-8BF0-4ECA-8317-06BD8BCF50A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4762500" y="1962150"/>
            <a:ext cx="6667500" cy="3752850"/>
          </a:xfrm>
          <a:prstGeom prst="rect">
            <a:avLst/>
          </a:prstGeom>
        </p:spPr>
      </p:pic>
      <p:sp>
        <p:nvSpPr>
          <p:cNvPr id="15" name="TextBox 15">
            <a:extLst>
              <a:ext uri="{FF2B5EF4-FFF2-40B4-BE49-F238E27FC236}">
                <a16:creationId xmlns:a16="http://schemas.microsoft.com/office/drawing/2014/main" id="{47F9486B-BA9D-4E00-BF76-A3D411EB8272}"/>
              </a:ext>
            </a:extLst>
          </p:cNvPr>
          <p:cNvSpPr txBox="1"/>
          <p:nvPr/>
        </p:nvSpPr>
        <p:spPr>
          <a:xfrm>
            <a:off x="4762500" y="5829300"/>
            <a:ext cx="6667500" cy="247650"/>
          </a:xfrm>
        </p:spPr>
        <p:txBody>
          <a:bodyPr wrap="square" rtlCol="0" lIns="0" tIns="0" rIns="0" bIns="0" anchor="t"/>
          <a:lstStyle/>
          <a:p>
            <a:pPr algn="ctr"/>
            <a:r>
              <a:rPr sz="1200" i="1">
                <a:solidFill>
                  <a:srgbClr val="5B6B84"/>
                </a:solidFill>
                <a:latin typeface="Segoe UI"/>
                <a:ea typeface="Segoe UI"/>
              </a:rPr>
              <a:t>Three-tier deployment: client, application, data — on AWS EC2 + RDS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B411C15A-FE8C-4DC2-8756-D718DD9121E5}"/>
              </a:ext>
            </a:extLst>
          </p:cNvPr>
          <p:cNvSpPr txBox="1"/>
          <p:nvPr/>
        </p:nvSpPr>
        <p:spPr>
          <a:xfrm>
            <a:off x="762000" y="495300"/>
            <a:ext cx="476250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300" b="1">
                <a:solidFill>
                  <a:srgbClr val="2563EB"/>
                </a:solidFill>
                <a:latin typeface="Segoe UI"/>
                <a:ea typeface="Segoe UI"/>
              </a:rPr>
              <a:t>SERVICE MAP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17E7A978-F7D3-4B44-AE53-9917E301F46A}"/>
              </a:ext>
            </a:extLst>
          </p:cNvPr>
          <p:cNvSpPr txBox="1"/>
          <p:nvPr/>
        </p:nvSpPr>
        <p:spPr>
          <a:xfrm>
            <a:off x="762000" y="762000"/>
            <a:ext cx="10668000" cy="533400"/>
          </a:xfrm>
        </p:spPr>
        <p:txBody>
          <a:bodyPr wrap="square" rtlCol="0" lIns="0" tIns="0" rIns="0" bIns="0" anchor="t"/>
          <a:lstStyle/>
          <a:p>
            <a:pPr algn="l"/>
            <a:r>
              <a:rPr sz="3200" b="1">
                <a:solidFill>
                  <a:srgbClr val="1A2433"/>
                </a:solidFill>
                <a:latin typeface="Segoe UI"/>
                <a:ea typeface="Segoe UI"/>
              </a:rPr>
              <a:t>Why these cloud services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E9392EEB-8B16-4C76-922B-51EB4508A641}"/>
              </a:ext>
            </a:extLst>
          </p:cNvPr>
          <p:cNvSpPr txBox="1"/>
          <p:nvPr/>
        </p:nvSpPr>
        <p:spPr>
          <a:xfrm>
            <a:off x="762000" y="1333500"/>
            <a:ext cx="10668000" cy="285750"/>
          </a:xfrm>
        </p:spPr>
        <p:txBody>
          <a:bodyPr wrap="square" rtlCol="0" lIns="0" tIns="0" rIns="0" bIns="0" anchor="t"/>
          <a:lstStyle/>
          <a:p>
            <a:pPr algn="l"/>
            <a:r>
              <a:rPr sz="1500">
                <a:solidFill>
                  <a:srgbClr val="5B6B84"/>
                </a:solidFill>
                <a:latin typeface="Segoe UI"/>
                <a:ea typeface="Segoe UI"/>
              </a:rPr>
              <a:t>Each layer maps to a different cloud service model — and a different amount of work you no longer do yourself.</a:t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494E15CD-4FF9-450F-AB3B-7F1AAFBBBA3B}"/>
              </a:ext>
            </a:extLst>
          </p:cNvPr>
          <p:cNvSpPr/>
          <p:nvPr/>
        </p:nvSpPr>
        <p:spPr>
          <a:xfrm>
            <a:off x="762000" y="1866900"/>
            <a:ext cx="5219700" cy="22479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C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E94098D1-95AE-4BC4-BEF4-DA99CB8A3C1E}"/>
              </a:ext>
            </a:extLst>
          </p:cNvPr>
          <p:cNvSpPr txBox="1"/>
          <p:nvPr/>
        </p:nvSpPr>
        <p:spPr>
          <a:xfrm>
            <a:off x="1066800" y="2076450"/>
            <a:ext cx="1047750" cy="518160"/>
          </a:xfrm>
        </p:spPr>
        <p:txBody>
          <a:bodyPr wrap="square" rtlCol="0" lIns="0" tIns="0" rIns="0" bIns="0" anchor="t"/>
          <a:lstStyle/>
          <a:p>
            <a:pPr algn="l"/>
            <a:r>
              <a:rPr sz="1700" b="1">
                <a:solidFill>
                  <a:srgbClr val="1A2433"/>
                </a:solidFill>
                <a:latin typeface="Segoe UI"/>
                <a:ea typeface="Segoe UI"/>
              </a:rPr>
              <a:t>Amazon EC2</a:t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DF8BD89A-7B9C-466B-BBD8-A36A68A88DEE}"/>
              </a:ext>
            </a:extLst>
          </p:cNvPr>
          <p:cNvSpPr/>
          <p:nvPr/>
        </p:nvSpPr>
        <p:spPr>
          <a:xfrm>
            <a:off x="2247900" y="2114550"/>
            <a:ext cx="533400" cy="228600"/>
          </a:xfrm>
          <a:prstGeom prst="roundRect">
            <a:avLst/>
          </a:prstGeom>
          <a:solidFill>
            <a:srgbClr val="2563EB"/>
          </a:solidFill>
        </p:spPr>
        <p:txBody>
          <a:bodyPr wrap="square" rtlCol="0" lIns="0" tIns="0" rIns="0" bIns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  <a:ea typeface="Segoe UI"/>
              </a:rPr>
              <a:t>IaaS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9392B6B-E60B-4C31-915D-D81A6A08077E}"/>
              </a:ext>
            </a:extLst>
          </p:cNvPr>
          <p:cNvSpPr txBox="1"/>
          <p:nvPr/>
        </p:nvSpPr>
        <p:spPr>
          <a:xfrm>
            <a:off x="1066800" y="2686050"/>
            <a:ext cx="4610100" cy="12382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5000"/>
              </a:lnSpc>
            </a:pPr>
            <a:r>
              <a:rPr sz="1300">
                <a:solidFill>
                  <a:srgbClr val="5B6B84"/>
                </a:solidFill>
                <a:latin typeface="Segoe UI"/>
                <a:ea typeface="Segoe UI"/>
              </a:rPr>
              <a:t>t3.micro virtual server: you install and manage the OS, Nginx, Node and the app. Free tier covers 750 hours/month — one always-on server at no cost for the first 12 months.</a:t>
            </a:r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3F261177-5757-4C38-8F7E-F53BAA81464A}"/>
              </a:ext>
            </a:extLst>
          </p:cNvPr>
          <p:cNvSpPr/>
          <p:nvPr/>
        </p:nvSpPr>
        <p:spPr>
          <a:xfrm>
            <a:off x="6210300" y="1866900"/>
            <a:ext cx="5219700" cy="22479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C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40C30074-5F03-46F8-B914-013E6391F991}"/>
              </a:ext>
            </a:extLst>
          </p:cNvPr>
          <p:cNvSpPr txBox="1"/>
          <p:nvPr/>
        </p:nvSpPr>
        <p:spPr>
          <a:xfrm>
            <a:off x="6515100" y="2076450"/>
            <a:ext cx="1905000" cy="518160"/>
          </a:xfrm>
        </p:spPr>
        <p:txBody>
          <a:bodyPr wrap="square" rtlCol="0" lIns="0" tIns="0" rIns="0" bIns="0" anchor="t"/>
          <a:lstStyle/>
          <a:p>
            <a:pPr algn="l"/>
            <a:r>
              <a:rPr sz="1700" b="1">
                <a:solidFill>
                  <a:srgbClr val="1A2433"/>
                </a:solidFill>
                <a:latin typeface="Segoe UI"/>
                <a:ea typeface="Segoe UI"/>
              </a:rPr>
              <a:t>Amazon RDS PostgreSQL</a:t>
            </a:r>
          </a:p>
        </p:txBody>
      </p:sp>
      <p:sp>
        <p:nvSpPr>
          <p:cNvPr id="12" name="Shape 12">
            <a:extLst>
              <a:ext uri="{FF2B5EF4-FFF2-40B4-BE49-F238E27FC236}">
                <a16:creationId xmlns:a16="http://schemas.microsoft.com/office/drawing/2014/main" id="{473BDA27-1D26-47B0-93D5-ECC3977A37A3}"/>
              </a:ext>
            </a:extLst>
          </p:cNvPr>
          <p:cNvSpPr/>
          <p:nvPr/>
        </p:nvSpPr>
        <p:spPr>
          <a:xfrm>
            <a:off x="8572500" y="2114550"/>
            <a:ext cx="1219200" cy="228600"/>
          </a:xfrm>
          <a:prstGeom prst="roundRect">
            <a:avLst/>
          </a:prstGeom>
          <a:solidFill>
            <a:srgbClr val="2563EB"/>
          </a:solidFill>
        </p:spPr>
        <p:txBody>
          <a:bodyPr wrap="square" rtlCol="0" lIns="0" tIns="0" rIns="0" bIns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  <a:ea typeface="Segoe UI"/>
              </a:rPr>
              <a:t>Managed DB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38426043-84D5-4E5F-92CA-279151F8356D}"/>
              </a:ext>
            </a:extLst>
          </p:cNvPr>
          <p:cNvSpPr txBox="1"/>
          <p:nvPr/>
        </p:nvSpPr>
        <p:spPr>
          <a:xfrm>
            <a:off x="6515100" y="2686050"/>
            <a:ext cx="4610100" cy="12382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5000"/>
              </a:lnSpc>
            </a:pPr>
            <a:r>
              <a:rPr sz="1300">
                <a:solidFill>
                  <a:srgbClr val="5B6B84"/>
                </a:solidFill>
                <a:latin typeface="Segoe UI"/>
                <a:ea typeface="Segoe UI"/>
              </a:rPr>
              <a:t>Database as a service: automated backups, patching and SSL. Launched with Public access = No, so it is only reachable from inside the VPC security group it trusts.</a:t>
            </a:r>
          </a:p>
        </p:txBody>
      </p:sp>
      <p:sp>
        <p:nvSpPr>
          <p:cNvPr id="14" name="Shape 14">
            <a:extLst>
              <a:ext uri="{FF2B5EF4-FFF2-40B4-BE49-F238E27FC236}">
                <a16:creationId xmlns:a16="http://schemas.microsoft.com/office/drawing/2014/main" id="{513AAA4B-52BE-426A-A743-B1032357389C}"/>
              </a:ext>
            </a:extLst>
          </p:cNvPr>
          <p:cNvSpPr/>
          <p:nvPr/>
        </p:nvSpPr>
        <p:spPr>
          <a:xfrm>
            <a:off x="762000" y="4343400"/>
            <a:ext cx="5219700" cy="22479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C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84A3A741-0EA9-4EC2-A52A-C02352921D8E}"/>
              </a:ext>
            </a:extLst>
          </p:cNvPr>
          <p:cNvSpPr txBox="1"/>
          <p:nvPr/>
        </p:nvSpPr>
        <p:spPr>
          <a:xfrm>
            <a:off x="1066800" y="4552950"/>
            <a:ext cx="1905000" cy="518160"/>
          </a:xfrm>
        </p:spPr>
        <p:txBody>
          <a:bodyPr wrap="square" rtlCol="0" lIns="0" tIns="0" rIns="0" bIns="0" anchor="t"/>
          <a:lstStyle/>
          <a:p>
            <a:pPr algn="l"/>
            <a:r>
              <a:rPr sz="1700" b="1">
                <a:solidFill>
                  <a:srgbClr val="1A2433"/>
                </a:solidFill>
                <a:latin typeface="Segoe UI"/>
                <a:ea typeface="Segoe UI"/>
              </a:rPr>
              <a:t>Nginx + Let's Encrypt</a:t>
            </a:r>
          </a:p>
        </p:txBody>
      </p:sp>
      <p:sp>
        <p:nvSpPr>
          <p:cNvPr id="16" name="Shape 16">
            <a:extLst>
              <a:ext uri="{FF2B5EF4-FFF2-40B4-BE49-F238E27FC236}">
                <a16:creationId xmlns:a16="http://schemas.microsoft.com/office/drawing/2014/main" id="{42FA14A1-CF8F-486C-944A-A9F6A6ED699F}"/>
              </a:ext>
            </a:extLst>
          </p:cNvPr>
          <p:cNvSpPr/>
          <p:nvPr/>
        </p:nvSpPr>
        <p:spPr>
          <a:xfrm>
            <a:off x="3067050" y="4591050"/>
            <a:ext cx="419100" cy="228600"/>
          </a:xfrm>
          <a:prstGeom prst="roundRect">
            <a:avLst/>
          </a:prstGeom>
          <a:solidFill>
            <a:srgbClr val="2563EB"/>
          </a:solidFill>
        </p:spPr>
        <p:txBody>
          <a:bodyPr wrap="square" rtlCol="0" lIns="0" tIns="0" rIns="0" bIns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  <a:ea typeface="Segoe UI"/>
              </a:rPr>
              <a:t>TLS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00F0DA4E-89EF-4613-A28B-0E251F777FE0}"/>
              </a:ext>
            </a:extLst>
          </p:cNvPr>
          <p:cNvSpPr txBox="1"/>
          <p:nvPr/>
        </p:nvSpPr>
        <p:spPr>
          <a:xfrm>
            <a:off x="1066800" y="5162550"/>
            <a:ext cx="4610100" cy="12382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5000"/>
              </a:lnSpc>
            </a:pPr>
            <a:r>
              <a:rPr sz="1300">
                <a:solidFill>
                  <a:srgbClr val="5B6B84"/>
                </a:solidFill>
                <a:latin typeface="Segoe UI"/>
                <a:ea typeface="Segoe UI"/>
              </a:rPr>
              <a:t>Reverse proxy on 80/443 with free HTTPS certificates, auto-renewed by certbot. HTTP is upgraded, HSTS enabled; the Node app itself stays on localhost :5000.</a:t>
            </a:r>
          </a:p>
        </p:txBody>
      </p:sp>
      <p:sp>
        <p:nvSpPr>
          <p:cNvPr id="18" name="Shape 18">
            <a:extLst>
              <a:ext uri="{FF2B5EF4-FFF2-40B4-BE49-F238E27FC236}">
                <a16:creationId xmlns:a16="http://schemas.microsoft.com/office/drawing/2014/main" id="{30E29797-5045-439A-9CAB-ADDEB19F94CA}"/>
              </a:ext>
            </a:extLst>
          </p:cNvPr>
          <p:cNvSpPr/>
          <p:nvPr/>
        </p:nvSpPr>
        <p:spPr>
          <a:xfrm>
            <a:off x="6210300" y="4343400"/>
            <a:ext cx="5219700" cy="22479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C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C9F61473-3B9E-4F7C-980D-3E0268028D03}"/>
              </a:ext>
            </a:extLst>
          </p:cNvPr>
          <p:cNvSpPr txBox="1"/>
          <p:nvPr/>
        </p:nvSpPr>
        <p:spPr>
          <a:xfrm>
            <a:off x="6515100" y="4552950"/>
            <a:ext cx="1409700" cy="518160"/>
          </a:xfrm>
        </p:spPr>
        <p:txBody>
          <a:bodyPr wrap="square" rtlCol="0" lIns="0" tIns="0" rIns="0" bIns="0" anchor="t"/>
          <a:lstStyle/>
          <a:p>
            <a:pPr algn="l"/>
            <a:r>
              <a:rPr sz="1700" b="1">
                <a:solidFill>
                  <a:srgbClr val="1A2433"/>
                </a:solidFill>
                <a:latin typeface="Segoe UI"/>
                <a:ea typeface="Segoe UI"/>
              </a:rPr>
              <a:t>Security groups</a:t>
            </a:r>
          </a:p>
        </p:txBody>
      </p:sp>
      <p:sp>
        <p:nvSpPr>
          <p:cNvPr id="20" name="Shape 20">
            <a:extLst>
              <a:ext uri="{FF2B5EF4-FFF2-40B4-BE49-F238E27FC236}">
                <a16:creationId xmlns:a16="http://schemas.microsoft.com/office/drawing/2014/main" id="{9726A075-C5E9-46E6-B396-5258397CCD8C}"/>
              </a:ext>
            </a:extLst>
          </p:cNvPr>
          <p:cNvSpPr/>
          <p:nvPr/>
        </p:nvSpPr>
        <p:spPr>
          <a:xfrm>
            <a:off x="8058150" y="4591050"/>
            <a:ext cx="1333500" cy="228600"/>
          </a:xfrm>
          <a:prstGeom prst="roundRect">
            <a:avLst/>
          </a:prstGeom>
          <a:solidFill>
            <a:srgbClr val="2563EB"/>
          </a:solidFill>
        </p:spPr>
        <p:txBody>
          <a:bodyPr wrap="square" rtlCol="0" lIns="0" tIns="0" rIns="0" bIns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  <a:ea typeface="Segoe UI"/>
              </a:rPr>
              <a:t>Virtual firewall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20A12AF4-6AA8-4C86-AF08-09803CA039CA}"/>
              </a:ext>
            </a:extLst>
          </p:cNvPr>
          <p:cNvSpPr txBox="1"/>
          <p:nvPr/>
        </p:nvSpPr>
        <p:spPr>
          <a:xfrm>
            <a:off x="6515100" y="5162550"/>
            <a:ext cx="4610100" cy="12382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5000"/>
              </a:lnSpc>
            </a:pPr>
            <a:r>
              <a:rPr sz="1300">
                <a:solidFill>
                  <a:srgbClr val="5B6B84"/>
                </a:solidFill>
                <a:latin typeface="Segoe UI"/>
                <a:ea typeface="Segoe UI"/>
              </a:rPr>
              <a:t>pg-web-sg: SSH (22) from my IP only, 80/443 open. pg-db-sg: port 5432 allowed only from pg-web-sg — by group reference, not an IP range.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EC27B1E9-8B72-4B7B-8353-58D65BF7529E}"/>
              </a:ext>
            </a:extLst>
          </p:cNvPr>
          <p:cNvSpPr txBox="1"/>
          <p:nvPr/>
        </p:nvSpPr>
        <p:spPr>
          <a:xfrm>
            <a:off x="762000" y="495300"/>
            <a:ext cx="476250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300" b="1">
                <a:solidFill>
                  <a:srgbClr val="2563EB"/>
                </a:solidFill>
                <a:latin typeface="Segoe UI"/>
                <a:ea typeface="Segoe UI"/>
              </a:rPr>
              <a:t>SECURITY &amp; RELIABILITY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5AE54AF9-37D7-449A-AAF1-DA0FC4FF2E2C}"/>
              </a:ext>
            </a:extLst>
          </p:cNvPr>
          <p:cNvSpPr txBox="1"/>
          <p:nvPr/>
        </p:nvSpPr>
        <p:spPr>
          <a:xfrm>
            <a:off x="762000" y="762000"/>
            <a:ext cx="10668000" cy="533400"/>
          </a:xfrm>
        </p:spPr>
        <p:txBody>
          <a:bodyPr wrap="square" rtlCol="0" lIns="0" tIns="0" rIns="0" bIns="0" anchor="t"/>
          <a:lstStyle/>
          <a:p>
            <a:pPr algn="l"/>
            <a:r>
              <a:rPr sz="3200" b="1">
                <a:solidFill>
                  <a:srgbClr val="1A2433"/>
                </a:solidFill>
                <a:latin typeface="Segoe UI"/>
                <a:ea typeface="Segoe UI"/>
              </a:rPr>
              <a:t>Defense in depth, measured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56446EFA-7DA9-4C63-A235-AD294B22A356}"/>
              </a:ext>
            </a:extLst>
          </p:cNvPr>
          <p:cNvSpPr txBox="1"/>
          <p:nvPr/>
        </p:nvSpPr>
        <p:spPr>
          <a:xfrm>
            <a:off x="762000" y="1333500"/>
            <a:ext cx="10668000" cy="285750"/>
          </a:xfrm>
        </p:spPr>
        <p:txBody>
          <a:bodyPr wrap="square" rtlCol="0" lIns="0" tIns="0" rIns="0" bIns="0" anchor="t"/>
          <a:lstStyle/>
          <a:p>
            <a:pPr algn="l"/>
            <a:r>
              <a:rPr sz="1500">
                <a:solidFill>
                  <a:srgbClr val="5B6B84"/>
                </a:solidFill>
                <a:latin typeface="Segoe UI"/>
                <a:ea typeface="Segoe UI"/>
              </a:rPr>
              <a:t>A cloud app is attacked from day one — every layer has a concrete control behind it.</a:t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37EC1F44-9036-4588-B22E-FB101330FCAD}"/>
              </a:ext>
            </a:extLst>
          </p:cNvPr>
          <p:cNvSpPr/>
          <p:nvPr/>
        </p:nvSpPr>
        <p:spPr>
          <a:xfrm>
            <a:off x="762000" y="1981200"/>
            <a:ext cx="2524125" cy="23812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C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B633A46C-191D-4C9E-98DD-138943609CCB}"/>
              </a:ext>
            </a:extLst>
          </p:cNvPr>
          <p:cNvSpPr txBox="1"/>
          <p:nvPr/>
        </p:nvSpPr>
        <p:spPr>
          <a:xfrm>
            <a:off x="1047750" y="2171700"/>
            <a:ext cx="1952625" cy="670560"/>
          </a:xfrm>
        </p:spPr>
        <p:txBody>
          <a:bodyPr wrap="square" rtlCol="0" lIns="0" tIns="0" rIns="0" bIns="0" anchor="t"/>
          <a:lstStyle/>
          <a:p>
            <a:pPr algn="l"/>
            <a:r>
              <a:rPr sz="4400" b="1">
                <a:solidFill>
                  <a:srgbClr val="2563EB"/>
                </a:solidFill>
                <a:latin typeface="Segoe UI"/>
                <a:ea typeface="Segoe UI"/>
              </a:rPr>
              <a:t>12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9141FE54-6AB2-4DB8-AFFE-C5086A54865A}"/>
              </a:ext>
            </a:extLst>
          </p:cNvPr>
          <p:cNvSpPr txBox="1"/>
          <p:nvPr/>
        </p:nvSpPr>
        <p:spPr>
          <a:xfrm>
            <a:off x="1047750" y="2952750"/>
            <a:ext cx="1952625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400" b="1">
                <a:solidFill>
                  <a:srgbClr val="1A2433"/>
                </a:solidFill>
                <a:latin typeface="Segoe UI"/>
                <a:ea typeface="Segoe UI"/>
              </a:rPr>
              <a:t>bcrypt cost factor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780D889C-49C3-4740-897F-AD854CB36DAE}"/>
              </a:ext>
            </a:extLst>
          </p:cNvPr>
          <p:cNvSpPr txBox="1"/>
          <p:nvPr/>
        </p:nvSpPr>
        <p:spPr>
          <a:xfrm>
            <a:off x="1047750" y="3429000"/>
            <a:ext cx="1952625" cy="8382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0000"/>
              </a:lnSpc>
            </a:pPr>
            <a:r>
              <a:rPr sz="1200">
                <a:solidFill>
                  <a:srgbClr val="5B6B84"/>
                </a:solidFill>
                <a:latin typeface="Segoe UI"/>
                <a:ea typeface="Segoe UI"/>
              </a:rPr>
              <a:t>Passwords are hashed and never stored in plain text; policy of 8+ chars enforced.</a:t>
            </a:r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5CCB530A-B202-4C1F-80E3-4C2CAB17F400}"/>
              </a:ext>
            </a:extLst>
          </p:cNvPr>
          <p:cNvSpPr/>
          <p:nvPr/>
        </p:nvSpPr>
        <p:spPr>
          <a:xfrm>
            <a:off x="3476625" y="1981200"/>
            <a:ext cx="2524125" cy="23812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C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73AE81A2-142D-4E4E-98A9-CEB4D25DEB0B}"/>
              </a:ext>
            </a:extLst>
          </p:cNvPr>
          <p:cNvSpPr txBox="1"/>
          <p:nvPr/>
        </p:nvSpPr>
        <p:spPr>
          <a:xfrm>
            <a:off x="3762375" y="2171700"/>
            <a:ext cx="1952625" cy="609600"/>
          </a:xfrm>
        </p:spPr>
        <p:txBody>
          <a:bodyPr wrap="square" rtlCol="0" lIns="0" tIns="0" rIns="0" bIns="0" anchor="t"/>
          <a:lstStyle/>
          <a:p>
            <a:pPr algn="l"/>
            <a:r>
              <a:rPr sz="4000" b="1">
                <a:solidFill>
                  <a:srgbClr val="2563EB"/>
                </a:solidFill>
                <a:latin typeface="Segoe UI"/>
                <a:ea typeface="Segoe UI"/>
              </a:rPr>
              <a:t>5 → 15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A6C766D2-7DAE-4C4D-8469-0899F4603D55}"/>
              </a:ext>
            </a:extLst>
          </p:cNvPr>
          <p:cNvSpPr txBox="1"/>
          <p:nvPr/>
        </p:nvSpPr>
        <p:spPr>
          <a:xfrm>
            <a:off x="3762375" y="2952750"/>
            <a:ext cx="1952625" cy="426720"/>
          </a:xfrm>
        </p:spPr>
        <p:txBody>
          <a:bodyPr wrap="square" rtlCol="0" lIns="0" tIns="0" rIns="0" bIns="0" anchor="t"/>
          <a:lstStyle/>
          <a:p>
            <a:pPr algn="l"/>
            <a:r>
              <a:rPr sz="1400" b="1">
                <a:solidFill>
                  <a:srgbClr val="1A2433"/>
                </a:solidFill>
                <a:latin typeface="Segoe UI"/>
                <a:ea typeface="Segoe UI"/>
              </a:rPr>
              <a:t>wrong tries, 15-min lock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9835BEF2-05CD-4AE9-A323-7D69CB621596}"/>
              </a:ext>
            </a:extLst>
          </p:cNvPr>
          <p:cNvSpPr txBox="1"/>
          <p:nvPr/>
        </p:nvSpPr>
        <p:spPr>
          <a:xfrm>
            <a:off x="3762375" y="3429000"/>
            <a:ext cx="1952625" cy="877824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0000"/>
              </a:lnSpc>
            </a:pPr>
            <a:r>
              <a:rPr sz="1200">
                <a:solidFill>
                  <a:srgbClr val="5B6B84"/>
                </a:solidFill>
                <a:latin typeface="Segoe UI"/>
                <a:ea typeface="Segoe UI"/>
              </a:rPr>
              <a:t>Per-account brute-force lockout, plus IP rate limits: 30 auth and 600 API calls per 15 min.</a:t>
            </a:r>
          </a:p>
        </p:txBody>
      </p:sp>
      <p:sp>
        <p:nvSpPr>
          <p:cNvPr id="14" name="Shape 14">
            <a:extLst>
              <a:ext uri="{FF2B5EF4-FFF2-40B4-BE49-F238E27FC236}">
                <a16:creationId xmlns:a16="http://schemas.microsoft.com/office/drawing/2014/main" id="{C19E5955-EDE3-45F2-9868-E21A8ADA5626}"/>
              </a:ext>
            </a:extLst>
          </p:cNvPr>
          <p:cNvSpPr/>
          <p:nvPr/>
        </p:nvSpPr>
        <p:spPr>
          <a:xfrm>
            <a:off x="6191250" y="1981200"/>
            <a:ext cx="2524125" cy="23812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C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2EE76411-4A6E-4AFD-A8E2-AACCD1A01643}"/>
              </a:ext>
            </a:extLst>
          </p:cNvPr>
          <p:cNvSpPr txBox="1"/>
          <p:nvPr/>
        </p:nvSpPr>
        <p:spPr>
          <a:xfrm>
            <a:off x="6477000" y="2171700"/>
            <a:ext cx="1952625" cy="670560"/>
          </a:xfrm>
        </p:spPr>
        <p:txBody>
          <a:bodyPr wrap="square" rtlCol="0" lIns="0" tIns="0" rIns="0" bIns="0" anchor="t"/>
          <a:lstStyle/>
          <a:p>
            <a:pPr algn="l"/>
            <a:r>
              <a:rPr sz="4400" b="1">
                <a:solidFill>
                  <a:srgbClr val="2563EB"/>
                </a:solidFill>
                <a:latin typeface="Segoe UI"/>
                <a:ea typeface="Segoe UI"/>
              </a:rPr>
              <a:t>8 h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15E30CC7-2CFE-46BC-961F-EF6AC6E61B07}"/>
              </a:ext>
            </a:extLst>
          </p:cNvPr>
          <p:cNvSpPr txBox="1"/>
          <p:nvPr/>
        </p:nvSpPr>
        <p:spPr>
          <a:xfrm>
            <a:off x="6477000" y="2952750"/>
            <a:ext cx="1952625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400" b="1">
                <a:solidFill>
                  <a:srgbClr val="1A2433"/>
                </a:solidFill>
                <a:latin typeface="Segoe UI"/>
                <a:ea typeface="Segoe UI"/>
              </a:rPr>
              <a:t>JWT session lifetime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24174D6C-2500-44FD-A4BE-A7CEA7E8EAB8}"/>
              </a:ext>
            </a:extLst>
          </p:cNvPr>
          <p:cNvSpPr txBox="1"/>
          <p:nvPr/>
        </p:nvSpPr>
        <p:spPr>
          <a:xfrm>
            <a:off x="6477000" y="3429000"/>
            <a:ext cx="1952625" cy="877824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0000"/>
              </a:lnSpc>
            </a:pPr>
            <a:r>
              <a:rPr sz="1200">
                <a:solidFill>
                  <a:srgbClr val="5B6B84"/>
                </a:solidFill>
                <a:latin typeface="Segoe UI"/>
                <a:ea typeface="Segoe UI"/>
              </a:rPr>
              <a:t>httpOnly, SameSite=Strict, Secure cookie; the DB re-checks the account on every request.</a:t>
            </a:r>
          </a:p>
        </p:txBody>
      </p:sp>
      <p:sp>
        <p:nvSpPr>
          <p:cNvPr id="18" name="Shape 18">
            <a:extLst>
              <a:ext uri="{FF2B5EF4-FFF2-40B4-BE49-F238E27FC236}">
                <a16:creationId xmlns:a16="http://schemas.microsoft.com/office/drawing/2014/main" id="{D72A5DD1-3614-4252-BDAB-AD3CCF304F2E}"/>
              </a:ext>
            </a:extLst>
          </p:cNvPr>
          <p:cNvSpPr/>
          <p:nvPr/>
        </p:nvSpPr>
        <p:spPr>
          <a:xfrm>
            <a:off x="8905875" y="1981200"/>
            <a:ext cx="2524125" cy="23812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C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64CEC7E6-171B-4002-858B-A8973D767E3F}"/>
              </a:ext>
            </a:extLst>
          </p:cNvPr>
          <p:cNvSpPr txBox="1"/>
          <p:nvPr/>
        </p:nvSpPr>
        <p:spPr>
          <a:xfrm>
            <a:off x="9191625" y="2171700"/>
            <a:ext cx="1952625" cy="670560"/>
          </a:xfrm>
        </p:spPr>
        <p:txBody>
          <a:bodyPr wrap="square" rtlCol="0" lIns="0" tIns="0" rIns="0" bIns="0" anchor="t"/>
          <a:lstStyle/>
          <a:p>
            <a:pPr algn="l"/>
            <a:r>
              <a:rPr sz="4400" b="1">
                <a:solidFill>
                  <a:srgbClr val="2563EB"/>
                </a:solidFill>
                <a:latin typeface="Segoe UI"/>
                <a:ea typeface="Segoe UI"/>
              </a:rPr>
              <a:t>15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8286F926-FAA7-4CD4-8D9F-7FEA0794399C}"/>
              </a:ext>
            </a:extLst>
          </p:cNvPr>
          <p:cNvSpPr txBox="1"/>
          <p:nvPr/>
        </p:nvSpPr>
        <p:spPr>
          <a:xfrm>
            <a:off x="9191625" y="2952750"/>
            <a:ext cx="1952625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400" b="1">
                <a:solidFill>
                  <a:srgbClr val="1A2433"/>
                </a:solidFill>
                <a:latin typeface="Segoe UI"/>
                <a:ea typeface="Segoe UI"/>
              </a:rPr>
              <a:t>automated API tests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60216FD0-EA6C-42A7-A229-4213B7513209}"/>
              </a:ext>
            </a:extLst>
          </p:cNvPr>
          <p:cNvSpPr txBox="1"/>
          <p:nvPr/>
        </p:nvSpPr>
        <p:spPr>
          <a:xfrm>
            <a:off x="9191625" y="3429000"/>
            <a:ext cx="1952625" cy="877824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0000"/>
              </a:lnSpc>
            </a:pPr>
            <a:r>
              <a:rPr sz="1200">
                <a:solidFill>
                  <a:srgbClr val="5B6B84"/>
                </a:solidFill>
                <a:latin typeface="Segoe UI"/>
                <a:ea typeface="Segoe UI"/>
              </a:rPr>
              <a:t>Auth, lockout, roles, uploads, approvals, dues and CSV run against an in-memory Postgres.</a:t>
            </a:r>
          </a:p>
        </p:txBody>
      </p:sp>
      <p:sp>
        <p:nvSpPr>
          <p:cNvPr id="22" name="Shape 22">
            <a:extLst>
              <a:ext uri="{FF2B5EF4-FFF2-40B4-BE49-F238E27FC236}">
                <a16:creationId xmlns:a16="http://schemas.microsoft.com/office/drawing/2014/main" id="{A07D6A6C-3F8C-4A41-998A-16CCF92892C1}"/>
              </a:ext>
            </a:extLst>
          </p:cNvPr>
          <p:cNvSpPr/>
          <p:nvPr/>
        </p:nvSpPr>
        <p:spPr>
          <a:xfrm>
            <a:off x="762000" y="4762500"/>
            <a:ext cx="10668000" cy="1143000"/>
          </a:xfrm>
          <a:prstGeom prst="roundRect">
            <a:avLst/>
          </a:prstGeom>
          <a:solidFill>
            <a:srgbClr val="0E1F38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3C026A2C-0FEF-405A-9321-FE5360CA5586}"/>
              </a:ext>
            </a:extLst>
          </p:cNvPr>
          <p:cNvSpPr txBox="1"/>
          <p:nvPr/>
        </p:nvSpPr>
        <p:spPr>
          <a:xfrm>
            <a:off x="1143000" y="4953000"/>
            <a:ext cx="9906000" cy="772668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7FA6E8"/>
                </a:solidFill>
                <a:latin typeface="Segoe UI"/>
                <a:ea typeface="Segoe UI"/>
              </a:rPr>
              <a:t>Also in place:  </a:t>
            </a:r>
            <a:r>
              <a:rPr sz="1300">
                <a:solidFill>
                  <a:srgbClr val="E6EDF7"/>
                </a:solidFill>
                <a:latin typeface="Segoe UI"/>
                <a:ea typeface="Segoe UI"/>
              </a:rPr>
              <a:t>parameterised SQL + zod validation · CSP &amp; HSTS via helmet · CSRF custom-header guard · magic-byte checks on image uploads (2 MB max) · CSV formula-injection neutralised · audit log of every login and admin action with IP · secrets only in .env, never in git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BF651F99-090E-4C94-BB4E-A736F681ACC2}"/>
              </a:ext>
            </a:extLst>
          </p:cNvPr>
          <p:cNvSpPr txBox="1"/>
          <p:nvPr/>
        </p:nvSpPr>
        <p:spPr>
          <a:xfrm>
            <a:off x="762000" y="495300"/>
            <a:ext cx="476250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300" b="1">
                <a:solidFill>
                  <a:srgbClr val="2563EB"/>
                </a:solidFill>
                <a:latin typeface="Segoe UI"/>
                <a:ea typeface="Segoe UI"/>
              </a:rPr>
              <a:t>DEPLOYMENT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4BBF58E3-F4E0-489E-94C0-BD2C748ED2F5}"/>
              </a:ext>
            </a:extLst>
          </p:cNvPr>
          <p:cNvSpPr txBox="1"/>
          <p:nvPr/>
        </p:nvSpPr>
        <p:spPr>
          <a:xfrm>
            <a:off x="762000" y="762000"/>
            <a:ext cx="10668000" cy="533400"/>
          </a:xfrm>
        </p:spPr>
        <p:txBody>
          <a:bodyPr wrap="square" rtlCol="0" lIns="0" tIns="0" rIns="0" bIns="0" anchor="t"/>
          <a:lstStyle/>
          <a:p>
            <a:pPr algn="l"/>
            <a:r>
              <a:rPr sz="3200" b="1">
                <a:solidFill>
                  <a:srgbClr val="1A2433"/>
                </a:solidFill>
                <a:latin typeface="Segoe UI"/>
                <a:ea typeface="Segoe UI"/>
              </a:rPr>
              <a:t>From laptop to cloud in six steps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C7E20004-8BD0-426C-A142-4589665B9485}"/>
              </a:ext>
            </a:extLst>
          </p:cNvPr>
          <p:cNvSpPr txBox="1"/>
          <p:nvPr/>
        </p:nvSpPr>
        <p:spPr>
          <a:xfrm>
            <a:off x="762000" y="1333500"/>
            <a:ext cx="10668000" cy="285750"/>
          </a:xfrm>
        </p:spPr>
        <p:txBody>
          <a:bodyPr wrap="square" rtlCol="0" lIns="0" tIns="0" rIns="0" bIns="0" anchor="t"/>
          <a:lstStyle/>
          <a:p>
            <a:pPr algn="l"/>
            <a:r>
              <a:rPr sz="1500">
                <a:solidFill>
                  <a:srgbClr val="5B6B84"/>
                </a:solidFill>
                <a:latin typeface="Segoe UI"/>
                <a:ea typeface="Segoe UI"/>
              </a:rPr>
              <a:t>The whole path is scripted in DEPLOY.md — reproducible in about 30 minutes on the free tier.</a:t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C9DDDA63-07A2-43F8-991D-C76AEFD16D43}"/>
              </a:ext>
            </a:extLst>
          </p:cNvPr>
          <p:cNvSpPr/>
          <p:nvPr/>
        </p:nvSpPr>
        <p:spPr>
          <a:xfrm>
            <a:off x="1143000" y="3733800"/>
            <a:ext cx="9906000" cy="19050"/>
          </a:xfrm>
          <a:prstGeom prst="rect">
            <a:avLst/>
          </a:prstGeom>
          <a:solidFill>
            <a:srgbClr val="C7D4E8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D2EF8E6D-30D6-4424-9B37-D32684E3D83E}"/>
              </a:ext>
            </a:extLst>
          </p:cNvPr>
          <p:cNvSpPr/>
          <p:nvPr/>
        </p:nvSpPr>
        <p:spPr>
          <a:xfrm>
            <a:off x="1104900" y="3514725"/>
            <a:ext cx="457200" cy="457200"/>
          </a:xfrm>
          <a:prstGeom prst="ellipse">
            <a:avLst/>
          </a:prstGeom>
          <a:solidFill>
            <a:srgbClr val="2563EB"/>
          </a:solidFill>
        </p:spPr>
        <p:txBody>
          <a:bodyPr wrap="square" rtlCol="0" lIns="0" tIns="0" rIns="0" bIns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  <a:ea typeface="Segoe UI"/>
              </a:rPr>
              <a:t>1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15711E91-E285-48B8-A7ED-6EF4D535B1E6}"/>
              </a:ext>
            </a:extLst>
          </p:cNvPr>
          <p:cNvSpPr txBox="1"/>
          <p:nvPr/>
        </p:nvSpPr>
        <p:spPr>
          <a:xfrm>
            <a:off x="571500" y="2857500"/>
            <a:ext cx="1524000" cy="285750"/>
          </a:xfrm>
        </p:spPr>
        <p:txBody>
          <a:bodyPr wrap="square" rtlCol="0" lIns="0" tIns="0" rIns="0" bIns="0" anchor="t"/>
          <a:lstStyle/>
          <a:p>
            <a:pPr algn="ctr"/>
            <a:r>
              <a:rPr sz="1500" b="1">
                <a:solidFill>
                  <a:srgbClr val="1A2433"/>
                </a:solidFill>
                <a:latin typeface="Segoe UI"/>
                <a:ea typeface="Segoe UI"/>
              </a:rPr>
              <a:t>Clone + .env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BD691B94-7968-4337-B8CB-2D2390AC7988}"/>
              </a:ext>
            </a:extLst>
          </p:cNvPr>
          <p:cNvSpPr txBox="1"/>
          <p:nvPr/>
        </p:nvSpPr>
        <p:spPr>
          <a:xfrm>
            <a:off x="571500" y="4191000"/>
            <a:ext cx="1524000" cy="1238250"/>
          </a:xfrm>
        </p:spPr>
        <p:txBody>
          <a:bodyPr wrap="square" rtlCol="0" lIns="0" tIns="0" rIns="0" bIns="0" anchor="t"/>
          <a:lstStyle/>
          <a:p>
            <a:pPr algn="ctr">
              <a:lnSpc>
                <a:spcPct val="120000"/>
              </a:lnSpc>
            </a:pPr>
            <a:r>
              <a:rPr sz="1200">
                <a:solidFill>
                  <a:srgbClr val="5B6B84"/>
                </a:solidFill>
                <a:latin typeface="Segoe UI"/>
                <a:ea typeface="Segoe UI"/>
              </a:rPr>
              <a:t>git clone on EC2; DATABASE_URL, JWT_SECRET set in a chmod 600 .env — never in git</a:t>
            </a:r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3575A0F5-797F-4436-A9BC-004159A0DD7D}"/>
              </a:ext>
            </a:extLst>
          </p:cNvPr>
          <p:cNvSpPr/>
          <p:nvPr/>
        </p:nvSpPr>
        <p:spPr>
          <a:xfrm>
            <a:off x="3009900" y="3514725"/>
            <a:ext cx="457200" cy="457200"/>
          </a:xfrm>
          <a:prstGeom prst="ellipse">
            <a:avLst/>
          </a:prstGeom>
          <a:solidFill>
            <a:srgbClr val="2563EB"/>
          </a:solidFill>
        </p:spPr>
        <p:txBody>
          <a:bodyPr wrap="square" rtlCol="0" lIns="0" tIns="0" rIns="0" bIns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  <a:ea typeface="Segoe UI"/>
              </a:rPr>
              <a:t>2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0581F867-496C-4A8B-B0ED-38D4482C108F}"/>
              </a:ext>
            </a:extLst>
          </p:cNvPr>
          <p:cNvSpPr txBox="1"/>
          <p:nvPr/>
        </p:nvSpPr>
        <p:spPr>
          <a:xfrm>
            <a:off x="2476500" y="2857500"/>
            <a:ext cx="1524000" cy="285750"/>
          </a:xfrm>
        </p:spPr>
        <p:txBody>
          <a:bodyPr wrap="square" rtlCol="0" lIns="0" tIns="0" rIns="0" bIns="0" anchor="t"/>
          <a:lstStyle/>
          <a:p>
            <a:pPr algn="ctr"/>
            <a:r>
              <a:rPr sz="1500" b="1">
                <a:solidFill>
                  <a:srgbClr val="1A2433"/>
                </a:solidFill>
                <a:latin typeface="Segoe UI"/>
                <a:ea typeface="Segoe UI"/>
              </a:rPr>
              <a:t>Build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0B4BAF85-9A70-4A88-8007-E7E4E4C1EDE9}"/>
              </a:ext>
            </a:extLst>
          </p:cNvPr>
          <p:cNvSpPr txBox="1"/>
          <p:nvPr/>
        </p:nvSpPr>
        <p:spPr>
          <a:xfrm>
            <a:off x="2476500" y="4191000"/>
            <a:ext cx="1524000" cy="1238250"/>
          </a:xfrm>
        </p:spPr>
        <p:txBody>
          <a:bodyPr wrap="square" rtlCol="0" lIns="0" tIns="0" rIns="0" bIns="0" anchor="t"/>
          <a:lstStyle/>
          <a:p>
            <a:pPr algn="ctr">
              <a:lnSpc>
                <a:spcPct val="120000"/>
              </a:lnSpc>
            </a:pPr>
            <a:r>
              <a:rPr sz="1200">
                <a:solidFill>
                  <a:srgbClr val="5B6B84"/>
                </a:solidFill>
                <a:latin typeface="Segoe UI"/>
                <a:ea typeface="Segoe UI"/>
              </a:rPr>
              <a:t>npm run build: Vite compiles React to static files served by the same Node process</a:t>
            </a:r>
          </a:p>
        </p:txBody>
      </p:sp>
      <p:sp>
        <p:nvSpPr>
          <p:cNvPr id="13" name="Shape 13">
            <a:extLst>
              <a:ext uri="{FF2B5EF4-FFF2-40B4-BE49-F238E27FC236}">
                <a16:creationId xmlns:a16="http://schemas.microsoft.com/office/drawing/2014/main" id="{697BC8DB-605A-410F-952E-0025F9296D62}"/>
              </a:ext>
            </a:extLst>
          </p:cNvPr>
          <p:cNvSpPr/>
          <p:nvPr/>
        </p:nvSpPr>
        <p:spPr>
          <a:xfrm>
            <a:off x="4914900" y="3514725"/>
            <a:ext cx="457200" cy="457200"/>
          </a:xfrm>
          <a:prstGeom prst="ellipse">
            <a:avLst/>
          </a:prstGeom>
          <a:solidFill>
            <a:srgbClr val="2563EB"/>
          </a:solidFill>
        </p:spPr>
        <p:txBody>
          <a:bodyPr wrap="square" rtlCol="0" lIns="0" tIns="0" rIns="0" bIns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  <a:ea typeface="Segoe UI"/>
              </a:rPr>
              <a:t>3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781A3C7A-08B6-4DE6-84D9-4B16EF6A68FE}"/>
              </a:ext>
            </a:extLst>
          </p:cNvPr>
          <p:cNvSpPr txBox="1"/>
          <p:nvPr/>
        </p:nvSpPr>
        <p:spPr>
          <a:xfrm>
            <a:off x="4381500" y="2857500"/>
            <a:ext cx="1524000" cy="285750"/>
          </a:xfrm>
        </p:spPr>
        <p:txBody>
          <a:bodyPr wrap="square" rtlCol="0" lIns="0" tIns="0" rIns="0" bIns="0" anchor="t"/>
          <a:lstStyle/>
          <a:p>
            <a:pPr algn="ctr"/>
            <a:r>
              <a:rPr sz="1500" b="1">
                <a:solidFill>
                  <a:srgbClr val="1A2433"/>
                </a:solidFill>
                <a:latin typeface="Segoe UI"/>
                <a:ea typeface="Segoe UI"/>
              </a:rPr>
              <a:t>PM2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3C3AE056-B096-4E37-A859-CF1EC0084AA2}"/>
              </a:ext>
            </a:extLst>
          </p:cNvPr>
          <p:cNvSpPr txBox="1"/>
          <p:nvPr/>
        </p:nvSpPr>
        <p:spPr>
          <a:xfrm>
            <a:off x="4381500" y="4191000"/>
            <a:ext cx="1524000" cy="1238250"/>
          </a:xfrm>
        </p:spPr>
        <p:txBody>
          <a:bodyPr wrap="square" rtlCol="0" lIns="0" tIns="0" rIns="0" bIns="0" anchor="t"/>
          <a:lstStyle/>
          <a:p>
            <a:pPr algn="ctr">
              <a:lnSpc>
                <a:spcPct val="120000"/>
              </a:lnSpc>
            </a:pPr>
            <a:r>
              <a:rPr sz="1200">
                <a:solidFill>
                  <a:srgbClr val="5B6B84"/>
                </a:solidFill>
                <a:latin typeface="Segoe UI"/>
                <a:ea typeface="Segoe UI"/>
              </a:rPr>
              <a:t>pm2 start + startup: restarts on crash, survives reboot, restarts at 300 MB memory</a:t>
            </a:r>
          </a:p>
        </p:txBody>
      </p:sp>
      <p:sp>
        <p:nvSpPr>
          <p:cNvPr id="16" name="Shape 16">
            <a:extLst>
              <a:ext uri="{FF2B5EF4-FFF2-40B4-BE49-F238E27FC236}">
                <a16:creationId xmlns:a16="http://schemas.microsoft.com/office/drawing/2014/main" id="{1122AA3C-E481-40DC-9125-29DB316F0045}"/>
              </a:ext>
            </a:extLst>
          </p:cNvPr>
          <p:cNvSpPr/>
          <p:nvPr/>
        </p:nvSpPr>
        <p:spPr>
          <a:xfrm>
            <a:off x="6819900" y="3514725"/>
            <a:ext cx="457200" cy="457200"/>
          </a:xfrm>
          <a:prstGeom prst="ellipse">
            <a:avLst/>
          </a:prstGeom>
          <a:solidFill>
            <a:srgbClr val="2563EB"/>
          </a:solidFill>
        </p:spPr>
        <p:txBody>
          <a:bodyPr wrap="square" rtlCol="0" lIns="0" tIns="0" rIns="0" bIns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  <a:ea typeface="Segoe UI"/>
              </a:rPr>
              <a:t>4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0A6D616E-7977-403B-AD47-EB5423E9B031}"/>
              </a:ext>
            </a:extLst>
          </p:cNvPr>
          <p:cNvSpPr txBox="1"/>
          <p:nvPr/>
        </p:nvSpPr>
        <p:spPr>
          <a:xfrm>
            <a:off x="6286500" y="2857500"/>
            <a:ext cx="1524000" cy="285750"/>
          </a:xfrm>
        </p:spPr>
        <p:txBody>
          <a:bodyPr wrap="square" rtlCol="0" lIns="0" tIns="0" rIns="0" bIns="0" anchor="t"/>
          <a:lstStyle/>
          <a:p>
            <a:pPr algn="ctr"/>
            <a:r>
              <a:rPr sz="1500" b="1">
                <a:solidFill>
                  <a:srgbClr val="1A2433"/>
                </a:solidFill>
                <a:latin typeface="Segoe UI"/>
                <a:ea typeface="Segoe UI"/>
              </a:rPr>
              <a:t>Nginx site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DC54D4BB-F2AA-4963-96A9-D14098BFC24B}"/>
              </a:ext>
            </a:extLst>
          </p:cNvPr>
          <p:cNvSpPr txBox="1"/>
          <p:nvPr/>
        </p:nvSpPr>
        <p:spPr>
          <a:xfrm>
            <a:off x="6286500" y="4191000"/>
            <a:ext cx="1524000" cy="1238250"/>
          </a:xfrm>
        </p:spPr>
        <p:txBody>
          <a:bodyPr wrap="square" rtlCol="0" lIns="0" tIns="0" rIns="0" bIns="0" anchor="t"/>
          <a:lstStyle/>
          <a:p>
            <a:pPr algn="ctr">
              <a:lnSpc>
                <a:spcPct val="120000"/>
              </a:lnSpc>
            </a:pPr>
            <a:r>
              <a:rPr sz="1200">
                <a:solidFill>
                  <a:srgbClr val="5B6B84"/>
                </a:solidFill>
                <a:latin typeface="Segoe UI"/>
                <a:ea typeface="Segoe UI"/>
              </a:rPr>
              <a:t>deploy/nginx.conf copied in, domain pointed via DuckDNS, proxying to localhost :5000</a:t>
            </a:r>
          </a:p>
        </p:txBody>
      </p:sp>
      <p:sp>
        <p:nvSpPr>
          <p:cNvPr id="19" name="Shape 19">
            <a:extLst>
              <a:ext uri="{FF2B5EF4-FFF2-40B4-BE49-F238E27FC236}">
                <a16:creationId xmlns:a16="http://schemas.microsoft.com/office/drawing/2014/main" id="{2A7D10CF-E12D-48FC-85BD-D0AE6BE0AD56}"/>
              </a:ext>
            </a:extLst>
          </p:cNvPr>
          <p:cNvSpPr/>
          <p:nvPr/>
        </p:nvSpPr>
        <p:spPr>
          <a:xfrm>
            <a:off x="8724900" y="3514725"/>
            <a:ext cx="457200" cy="457200"/>
          </a:xfrm>
          <a:prstGeom prst="ellipse">
            <a:avLst/>
          </a:prstGeom>
          <a:solidFill>
            <a:srgbClr val="2563EB"/>
          </a:solidFill>
        </p:spPr>
        <p:txBody>
          <a:bodyPr wrap="square" rtlCol="0" lIns="0" tIns="0" rIns="0" bIns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  <a:ea typeface="Segoe UI"/>
              </a:rPr>
              <a:t>5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AA59F23A-4CE4-4209-8026-3CA0BFC54A31}"/>
              </a:ext>
            </a:extLst>
          </p:cNvPr>
          <p:cNvSpPr txBox="1"/>
          <p:nvPr/>
        </p:nvSpPr>
        <p:spPr>
          <a:xfrm>
            <a:off x="8191500" y="2857500"/>
            <a:ext cx="1524000" cy="285750"/>
          </a:xfrm>
        </p:spPr>
        <p:txBody>
          <a:bodyPr wrap="square" rtlCol="0" lIns="0" tIns="0" rIns="0" bIns="0" anchor="t"/>
          <a:lstStyle/>
          <a:p>
            <a:pPr algn="ctr"/>
            <a:r>
              <a:rPr sz="1500" b="1">
                <a:solidFill>
                  <a:srgbClr val="1A2433"/>
                </a:solidFill>
                <a:latin typeface="Segoe UI"/>
                <a:ea typeface="Segoe UI"/>
              </a:rPr>
              <a:t>HTTPS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C12229D2-D79B-44BC-A789-881CF699B40A}"/>
              </a:ext>
            </a:extLst>
          </p:cNvPr>
          <p:cNvSpPr txBox="1"/>
          <p:nvPr/>
        </p:nvSpPr>
        <p:spPr>
          <a:xfrm>
            <a:off x="8191500" y="4191000"/>
            <a:ext cx="1524000" cy="1238250"/>
          </a:xfrm>
        </p:spPr>
        <p:txBody>
          <a:bodyPr wrap="square" rtlCol="0" lIns="0" tIns="0" rIns="0" bIns="0" anchor="t"/>
          <a:lstStyle/>
          <a:p>
            <a:pPr algn="ctr">
              <a:lnSpc>
                <a:spcPct val="120000"/>
              </a:lnSpc>
            </a:pPr>
            <a:r>
              <a:rPr sz="1200">
                <a:solidFill>
                  <a:srgbClr val="5B6B84"/>
                </a:solidFill>
                <a:latin typeface="Segoe UI"/>
                <a:ea typeface="Segoe UI"/>
              </a:rPr>
              <a:t>certbot --nginx issues and auto-renews a free Let's Encrypt certificate, HSTS on</a:t>
            </a:r>
          </a:p>
        </p:txBody>
      </p:sp>
      <p:sp>
        <p:nvSpPr>
          <p:cNvPr id="22" name="Shape 22">
            <a:extLst>
              <a:ext uri="{FF2B5EF4-FFF2-40B4-BE49-F238E27FC236}">
                <a16:creationId xmlns:a16="http://schemas.microsoft.com/office/drawing/2014/main" id="{1C5632F1-1762-4A51-B12C-9B9DA08CB7B3}"/>
              </a:ext>
            </a:extLst>
          </p:cNvPr>
          <p:cNvSpPr/>
          <p:nvPr/>
        </p:nvSpPr>
        <p:spPr>
          <a:xfrm>
            <a:off x="10629900" y="3514725"/>
            <a:ext cx="457200" cy="457200"/>
          </a:xfrm>
          <a:prstGeom prst="ellipse">
            <a:avLst/>
          </a:prstGeom>
          <a:solidFill>
            <a:srgbClr val="0F766E"/>
          </a:solidFill>
        </p:spPr>
        <p:txBody>
          <a:bodyPr wrap="square" rtlCol="0" lIns="0" tIns="0" rIns="0" bIns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  <a:ea typeface="Segoe UI"/>
              </a:rPr>
              <a:t>6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6AE85A8A-47FD-4315-A949-4C63D84E1C3F}"/>
              </a:ext>
            </a:extLst>
          </p:cNvPr>
          <p:cNvSpPr txBox="1"/>
          <p:nvPr/>
        </p:nvSpPr>
        <p:spPr>
          <a:xfrm>
            <a:off x="10096500" y="2857500"/>
            <a:ext cx="1524000" cy="285750"/>
          </a:xfrm>
        </p:spPr>
        <p:txBody>
          <a:bodyPr wrap="square" rtlCol="0" lIns="0" tIns="0" rIns="0" bIns="0" anchor="t"/>
          <a:lstStyle/>
          <a:p>
            <a:pPr algn="ctr"/>
            <a:r>
              <a:rPr sz="1500" b="1">
                <a:solidFill>
                  <a:srgbClr val="1A2433"/>
                </a:solidFill>
                <a:latin typeface="Segoe UI"/>
                <a:ea typeface="Segoe UI"/>
              </a:rPr>
              <a:t>Verify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6A572406-0C78-40AA-8BE5-8442AB8F4567}"/>
              </a:ext>
            </a:extLst>
          </p:cNvPr>
          <p:cNvSpPr txBox="1"/>
          <p:nvPr/>
        </p:nvSpPr>
        <p:spPr>
          <a:xfrm>
            <a:off x="10096500" y="4191000"/>
            <a:ext cx="1524000" cy="1238250"/>
          </a:xfrm>
        </p:spPr>
        <p:txBody>
          <a:bodyPr wrap="square" rtlCol="0" lIns="0" tIns="0" rIns="0" bIns="0" anchor="t"/>
          <a:lstStyle/>
          <a:p>
            <a:pPr algn="ctr">
              <a:lnSpc>
                <a:spcPct val="120000"/>
              </a:lnSpc>
            </a:pPr>
            <a:r>
              <a:rPr sz="1200">
                <a:solidFill>
                  <a:srgbClr val="5B6B84"/>
                </a:solidFill>
                <a:latin typeface="Segoe UI"/>
                <a:ea typeface="Segoe UI"/>
              </a:rPr>
              <a:t>/api/health returns {"ok":true}; tables and admin account auto-created on first start</a:t>
            </a:r>
          </a:p>
        </p:txBody>
      </p:sp>
      <p:sp>
        <p:nvSpPr>
          <p:cNvPr id="25" name="Shape 25">
            <a:extLst>
              <a:ext uri="{FF2B5EF4-FFF2-40B4-BE49-F238E27FC236}">
                <a16:creationId xmlns:a16="http://schemas.microsoft.com/office/drawing/2014/main" id="{5ECF2704-4778-4D81-9F9D-6DB4D0F1D690}"/>
              </a:ext>
            </a:extLst>
          </p:cNvPr>
          <p:cNvSpPr/>
          <p:nvPr/>
        </p:nvSpPr>
        <p:spPr>
          <a:xfrm>
            <a:off x="762000" y="5810250"/>
            <a:ext cx="10668000" cy="571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C"/>
            </a:solidFill>
          </a:ln>
        </p:spPr>
        <p:txBody>
          <a:bodyPr wrap="square" rtlCol="0" lIns="0" tIns="0" rIns="0" bIns="0" anchor="ctr"/>
          <a:lstStyle/>
          <a:p>
            <a:pPr algn="ctr"/>
            <a:r>
              <a:rPr sz="1400" b="1">
                <a:solidFill>
                  <a:srgbClr val="1A2433"/>
                </a:solidFill>
                <a:latin typeface="Segoe UI"/>
                <a:ea typeface="Segoe UI"/>
              </a:rPr>
              <a:t>Updates after any change:  git pull → npm run build → pm2 restart pg-manager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40A61232-2821-41EB-8E60-65B73C594764}"/>
              </a:ext>
            </a:extLst>
          </p:cNvPr>
          <p:cNvSpPr txBox="1"/>
          <p:nvPr/>
        </p:nvSpPr>
        <p:spPr>
          <a:xfrm>
            <a:off x="762000" y="495300"/>
            <a:ext cx="476250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300" b="1">
                <a:solidFill>
                  <a:srgbClr val="2563EB"/>
                </a:solidFill>
                <a:latin typeface="Segoe UI"/>
                <a:ea typeface="Segoe UI"/>
              </a:rPr>
              <a:t>PORTABILITY &amp; GROWTH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01F24E3E-6228-492F-AC80-20567CA8AD90}"/>
              </a:ext>
            </a:extLst>
          </p:cNvPr>
          <p:cNvSpPr txBox="1"/>
          <p:nvPr/>
        </p:nvSpPr>
        <p:spPr>
          <a:xfrm>
            <a:off x="762000" y="762000"/>
            <a:ext cx="10668000" cy="533400"/>
          </a:xfrm>
        </p:spPr>
        <p:txBody>
          <a:bodyPr wrap="square" rtlCol="0" lIns="0" tIns="0" rIns="0" bIns="0" anchor="t"/>
          <a:lstStyle/>
          <a:p>
            <a:pPr algn="l"/>
            <a:r>
              <a:rPr sz="3200" b="1">
                <a:solidFill>
                  <a:srgbClr val="1A2433"/>
                </a:solidFill>
                <a:latin typeface="Segoe UI"/>
                <a:ea typeface="Segoe UI"/>
              </a:rPr>
              <a:t>Containers and the scaling path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C9242657-F33F-4535-BF5D-6239040C0567}"/>
              </a:ext>
            </a:extLst>
          </p:cNvPr>
          <p:cNvSpPr txBox="1"/>
          <p:nvPr/>
        </p:nvSpPr>
        <p:spPr>
          <a:xfrm>
            <a:off x="762000" y="1333500"/>
            <a:ext cx="10668000" cy="285750"/>
          </a:xfrm>
        </p:spPr>
        <p:txBody>
          <a:bodyPr wrap="square" rtlCol="0" lIns="0" tIns="0" rIns="0" bIns="0" anchor="t"/>
          <a:lstStyle/>
          <a:p>
            <a:pPr algn="l"/>
            <a:r>
              <a:rPr sz="1500">
                <a:solidFill>
                  <a:srgbClr val="5B6B84"/>
                </a:solidFill>
                <a:latin typeface="Segoe UI"/>
                <a:ea typeface="Segoe UI"/>
              </a:rPr>
              <a:t>The same app ships as one command with Docker — and the design already allows measured growth on AWS.</a:t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EB7A3DD9-1329-46B6-B648-7AD966D31967}"/>
              </a:ext>
            </a:extLst>
          </p:cNvPr>
          <p:cNvSpPr/>
          <p:nvPr/>
        </p:nvSpPr>
        <p:spPr>
          <a:xfrm>
            <a:off x="762000" y="1866900"/>
            <a:ext cx="5219700" cy="4191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C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3DFDE2BD-E2B5-45A4-8617-7FFFDDAD0AC4}"/>
              </a:ext>
            </a:extLst>
          </p:cNvPr>
          <p:cNvSpPr txBox="1"/>
          <p:nvPr/>
        </p:nvSpPr>
        <p:spPr>
          <a:xfrm>
            <a:off x="1066800" y="2133600"/>
            <a:ext cx="4610100" cy="323850"/>
          </a:xfrm>
        </p:spPr>
        <p:txBody>
          <a:bodyPr wrap="square" rtlCol="0" lIns="0" tIns="0" rIns="0" bIns="0" anchor="t"/>
          <a:lstStyle/>
          <a:p>
            <a:pPr algn="l"/>
            <a:r>
              <a:rPr sz="1800" b="1">
                <a:solidFill>
                  <a:srgbClr val="1A2433"/>
                </a:solidFill>
                <a:latin typeface="Segoe UI"/>
                <a:ea typeface="Segoe UI"/>
              </a:rPr>
              <a:t>Run anywhere: Docker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32F1B41C-BB90-4D74-A4CC-CEBCA286C15A}"/>
              </a:ext>
            </a:extLst>
          </p:cNvPr>
          <p:cNvSpPr txBox="1"/>
          <p:nvPr/>
        </p:nvSpPr>
        <p:spPr>
          <a:xfrm>
            <a:off x="1066800" y="2590800"/>
            <a:ext cx="4610100" cy="3048000"/>
          </a:xfrm>
        </p:spPr>
        <p:txBody>
          <a:bodyPr wrap="square" rtlCol="0" lIns="0" tIns="0" rIns="0" bIns="0" anchor="t"/>
          <a:lstStyle/>
          <a:p>
            <a:pPr marL="228600" indent="-228600" algn="l">
              <a:lnSpc>
                <a:spcPct val="120000"/>
              </a:lnSpc>
              <a:spcAft>
                <a:spcPts val="1200"/>
              </a:spcAft>
              <a:buChar char="•"/>
            </a:pPr>
            <a:r>
              <a:rPr sz="1300">
                <a:solidFill>
                  <a:srgbClr val="1A2433"/>
                </a:solidFill>
                <a:latin typeface="Segoe UI"/>
                <a:ea typeface="Segoe UI"/>
              </a:rPr>
              <a:t>docker compose up --build → running system on :5000, one command</a:t>
            </a:r>
          </a:p>
          <a:p>
            <a:pPr marL="228600" indent="-228600" algn="l">
              <a:lnSpc>
                <a:spcPct val="120000"/>
              </a:lnSpc>
              <a:spcAft>
                <a:spcPts val="1200"/>
              </a:spcAft>
              <a:buChar char="•"/>
            </a:pPr>
            <a:r>
              <a:rPr sz="1300">
                <a:solidFill>
                  <a:srgbClr val="1A2433"/>
                </a:solidFill>
                <a:latin typeface="Segoe UI"/>
                <a:ea typeface="Segoe UI"/>
              </a:rPr>
              <a:t>Two services: the app image + postgres:16-alpine</a:t>
            </a:r>
          </a:p>
          <a:p>
            <a:pPr marL="228600" indent="-228600" algn="l">
              <a:lnSpc>
                <a:spcPct val="120000"/>
              </a:lnSpc>
              <a:spcAft>
                <a:spcPts val="1200"/>
              </a:spcAft>
              <a:buChar char="•"/>
            </a:pPr>
            <a:r>
              <a:rPr sz="1300">
                <a:solidFill>
                  <a:srgbClr val="1A2433"/>
                </a:solidFill>
                <a:latin typeface="Segoe UI"/>
                <a:ea typeface="Segoe UI"/>
              </a:rPr>
              <a:t>Named volume keeps data across restarts; pg_isready healthcheck gates startup order</a:t>
            </a:r>
          </a:p>
          <a:p>
            <a:pPr marL="228600" indent="-228600" algn="l">
              <a:lnSpc>
                <a:spcPct val="120000"/>
              </a:lnSpc>
              <a:spcAft>
                <a:spcPts val="1200"/>
              </a:spcAft>
              <a:buChar char="•"/>
            </a:pPr>
            <a:r>
              <a:rPr sz="1300">
                <a:solidFill>
                  <a:srgbClr val="1A2433"/>
                </a:solidFill>
                <a:latin typeface="Segoe UI"/>
                <a:ea typeface="Segoe UI"/>
              </a:rPr>
              <a:t>Same image runs on a laptop, EC2, ECS or any container host</a:t>
            </a:r>
          </a:p>
          <a:p>
            <a:pPr marL="228600" indent="-228600" algn="l">
              <a:lnSpc>
                <a:spcPct val="120000"/>
              </a:lnSpc>
              <a:spcAft>
                <a:spcPts val="1200"/>
              </a:spcAft>
              <a:buChar char="•"/>
            </a:pPr>
            <a:r>
              <a:rPr sz="1300">
                <a:solidFill>
                  <a:srgbClr val="1A2433"/>
                </a:solidFill>
                <a:latin typeface="Segoe UI"/>
                <a:ea typeface="Segoe UI"/>
              </a:rPr>
              <a:t>PaaS fallbacks documented: Render / Railway for zero-ops deploys</a:t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06212FD3-3F8F-4F22-B2A0-F6077032437E}"/>
              </a:ext>
            </a:extLst>
          </p:cNvPr>
          <p:cNvSpPr/>
          <p:nvPr/>
        </p:nvSpPr>
        <p:spPr>
          <a:xfrm>
            <a:off x="6210300" y="1866900"/>
            <a:ext cx="5219700" cy="4191000"/>
          </a:xfrm>
          <a:prstGeom prst="roundRect">
            <a:avLst/>
          </a:prstGeom>
          <a:solidFill>
            <a:srgbClr val="0E1F38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0771F627-6F9D-40FD-BF74-33592D66BA7E}"/>
              </a:ext>
            </a:extLst>
          </p:cNvPr>
          <p:cNvSpPr txBox="1"/>
          <p:nvPr/>
        </p:nvSpPr>
        <p:spPr>
          <a:xfrm>
            <a:off x="6515100" y="2133600"/>
            <a:ext cx="4610100" cy="323850"/>
          </a:xfrm>
        </p:spPr>
        <p:txBody>
          <a:bodyPr wrap="square" rtlCol="0" lIns="0" tIns="0" rIns="0" bIns="0" anchor="t"/>
          <a:lstStyle/>
          <a:p>
            <a:pPr algn="l"/>
            <a:r>
              <a:rPr sz="1800" b="1">
                <a:solidFill>
                  <a:srgbClr val="FFFFFF"/>
                </a:solidFill>
                <a:latin typeface="Segoe UI"/>
                <a:ea typeface="Segoe UI"/>
              </a:rPr>
              <a:t>Scaling path from one server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11D66C13-FB14-4019-854A-0D00B3FA0941}"/>
              </a:ext>
            </a:extLst>
          </p:cNvPr>
          <p:cNvSpPr txBox="1"/>
          <p:nvPr/>
        </p:nvSpPr>
        <p:spPr>
          <a:xfrm>
            <a:off x="6515100" y="2590800"/>
            <a:ext cx="4610100" cy="3048000"/>
          </a:xfrm>
        </p:spPr>
        <p:txBody>
          <a:bodyPr wrap="square" rtlCol="0" lIns="0" tIns="0" rIns="0" bIns="0" anchor="t"/>
          <a:lstStyle/>
          <a:p>
            <a:pPr marL="228600" indent="-228600" algn="l">
              <a:lnSpc>
                <a:spcPct val="120000"/>
              </a:lnSpc>
              <a:spcAft>
                <a:spcPts val="1200"/>
              </a:spcAft>
              <a:buChar char="•"/>
            </a:pPr>
            <a:r>
              <a:rPr sz="1300">
                <a:solidFill>
                  <a:srgbClr val="E6EDF7"/>
                </a:solidFill>
                <a:latin typeface="Segoe UI"/>
                <a:ea typeface="Segoe UI"/>
              </a:rPr>
              <a:t>Vertical first: bigger EC2 instance, bigger RDS class — one config change</a:t>
            </a:r>
          </a:p>
          <a:p>
            <a:pPr marL="228600" indent="-228600" algn="l">
              <a:lnSpc>
                <a:spcPct val="120000"/>
              </a:lnSpc>
              <a:spcAft>
                <a:spcPts val="1200"/>
              </a:spcAft>
              <a:buChar char="•"/>
            </a:pPr>
            <a:r>
              <a:rPr sz="1300">
                <a:solidFill>
                  <a:srgbClr val="E6EDF7"/>
                </a:solidFill>
                <a:latin typeface="Segoe UI"/>
                <a:ea typeface="Segoe UI"/>
              </a:rPr>
              <a:t>Sessions are stateless (JWT in cookie, no server store) → app servers can be added behind a load balancer</a:t>
            </a:r>
          </a:p>
          <a:p>
            <a:pPr marL="228600" indent="-228600" algn="l">
              <a:lnSpc>
                <a:spcPct val="120000"/>
              </a:lnSpc>
              <a:spcAft>
                <a:spcPts val="1200"/>
              </a:spcAft>
              <a:buChar char="•"/>
            </a:pPr>
            <a:r>
              <a:rPr sz="1300">
                <a:solidFill>
                  <a:srgbClr val="E6EDF7"/>
                </a:solidFill>
                <a:latin typeface="Segoe UI"/>
                <a:ea typeface="Segoe UI"/>
              </a:rPr>
              <a:t>Payment proofs live in the DB as BYTEA → move to S3 when storage grows</a:t>
            </a:r>
          </a:p>
          <a:p>
            <a:pPr marL="228600" indent="-228600" algn="l">
              <a:lnSpc>
                <a:spcPct val="120000"/>
              </a:lnSpc>
              <a:spcAft>
                <a:spcPts val="1200"/>
              </a:spcAft>
              <a:buChar char="•"/>
            </a:pPr>
            <a:r>
              <a:rPr sz="1300">
                <a:solidFill>
                  <a:srgbClr val="E6EDF7"/>
                </a:solidFill>
                <a:latin typeface="Segoe UI"/>
                <a:ea typeface="Segoe UI"/>
              </a:rPr>
              <a:t>Static React build is CDN-ready (CloudFront)</a:t>
            </a:r>
          </a:p>
          <a:p>
            <a:pPr marL="228600" indent="-228600" algn="l">
              <a:lnSpc>
                <a:spcPct val="120000"/>
              </a:lnSpc>
              <a:spcAft>
                <a:spcPts val="1200"/>
              </a:spcAft>
              <a:buChar char="•"/>
            </a:pPr>
            <a:r>
              <a:rPr sz="1300">
                <a:solidFill>
                  <a:srgbClr val="E6EDF7"/>
                </a:solidFill>
                <a:latin typeface="Segoe UI"/>
                <a:ea typeface="Segoe UI"/>
              </a:rPr>
              <a:t>RDS Multi-AZ standby for high availability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F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9300F66F-6DDC-4C05-AE0D-1CB1EF37BC47}"/>
              </a:ext>
            </a:extLst>
          </p:cNvPr>
          <p:cNvSpPr txBox="1"/>
          <p:nvPr/>
        </p:nvSpPr>
        <p:spPr>
          <a:xfrm>
            <a:off x="762000" y="1428750"/>
            <a:ext cx="10668000" cy="247650"/>
          </a:xfrm>
        </p:spPr>
        <p:txBody>
          <a:bodyPr wrap="square" rtlCol="0" lIns="0" tIns="0" rIns="0" bIns="0" anchor="t"/>
          <a:lstStyle/>
          <a:p>
            <a:pPr algn="ctr"/>
            <a:r>
              <a:rPr sz="1300" b="1">
                <a:solidFill>
                  <a:srgbClr val="7FA6E8"/>
                </a:solidFill>
                <a:latin typeface="Segoe UI"/>
                <a:ea typeface="Segoe UI"/>
              </a:rPr>
              <a:t>PG MANAGER  ·  CLOUD COMPUTING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03ACC4FF-4BEF-4ED1-AD31-1F69B9EAC0CA}"/>
              </a:ext>
            </a:extLst>
          </p:cNvPr>
          <p:cNvSpPr txBox="1"/>
          <p:nvPr/>
        </p:nvSpPr>
        <p:spPr>
          <a:xfrm>
            <a:off x="762000" y="2000250"/>
            <a:ext cx="10668000" cy="857250"/>
          </a:xfrm>
        </p:spPr>
        <p:txBody>
          <a:bodyPr wrap="square" rtlCol="0" lIns="0" tIns="0" rIns="0" bIns="0" anchor="t"/>
          <a:lstStyle/>
          <a:p>
            <a:pPr algn="ctr"/>
            <a:r>
              <a:rPr sz="4400" b="1">
                <a:solidFill>
                  <a:srgbClr val="FFFFFF"/>
                </a:solidFill>
                <a:latin typeface="Segoe UI"/>
                <a:ea typeface="Segoe UI"/>
              </a:rPr>
              <a:t>Thank you — questions?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31D13F20-92EB-40F7-A55E-04872F789476}"/>
              </a:ext>
            </a:extLst>
          </p:cNvPr>
          <p:cNvSpPr txBox="1"/>
          <p:nvPr/>
        </p:nvSpPr>
        <p:spPr>
          <a:xfrm>
            <a:off x="1809750" y="3143250"/>
            <a:ext cx="8572500" cy="950976"/>
          </a:xfrm>
        </p:spPr>
        <p:txBody>
          <a:bodyPr wrap="square" rtlCol="0" lIns="0" tIns="0" rIns="0" bIns="0" anchor="t"/>
          <a:lstStyle/>
          <a:p>
            <a:pPr algn="ctr">
              <a:lnSpc>
                <a:spcPct val="130000"/>
              </a:lnSpc>
            </a:pPr>
            <a:r>
              <a:rPr sz="1600">
                <a:solidFill>
                  <a:srgbClr val="C9D6EA"/>
                </a:solidFill>
                <a:latin typeface="Segoe UI"/>
                <a:ea typeface="Segoe UI"/>
              </a:rPr>
              <a:t>A production-shaped full-stack app — React + Node + PostgreSQL on EC2 and RDS, HTTPS via Let's Encrypt, guarded by security groups, reproducible with Docker — running on the AWS free tier.</a:t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D5EC5E13-CEE6-4645-A5A9-C61FAEEE0580}"/>
              </a:ext>
            </a:extLst>
          </p:cNvPr>
          <p:cNvSpPr/>
          <p:nvPr/>
        </p:nvSpPr>
        <p:spPr>
          <a:xfrm>
            <a:off x="2219325" y="4476750"/>
            <a:ext cx="2381250" cy="419100"/>
          </a:xfrm>
          <a:prstGeom prst="roundRect">
            <a:avLst/>
          </a:prstGeom>
          <a:solidFill>
            <a:srgbClr val="16304F"/>
          </a:solidFill>
        </p:spPr>
        <p:txBody>
          <a:bodyPr wrap="square" rtlCol="0" lIns="0" tIns="0" rIns="0" bIns="0" anchor="ctr"/>
          <a:lstStyle/>
          <a:p>
            <a:pPr algn="ctr"/>
            <a:r>
              <a:rPr sz="1300" b="1">
                <a:solidFill>
                  <a:srgbClr val="E6EDF7"/>
                </a:solidFill>
                <a:latin typeface="Segoe UI"/>
                <a:ea typeface="Segoe UI"/>
              </a:rPr>
              <a:t>Live demo available</a:t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6356F069-3CC1-405F-B063-71F7BC01FDB5}"/>
              </a:ext>
            </a:extLst>
          </p:cNvPr>
          <p:cNvSpPr/>
          <p:nvPr/>
        </p:nvSpPr>
        <p:spPr>
          <a:xfrm>
            <a:off x="4791075" y="4476750"/>
            <a:ext cx="2857500" cy="419100"/>
          </a:xfrm>
          <a:prstGeom prst="roundRect">
            <a:avLst/>
          </a:prstGeom>
          <a:solidFill>
            <a:srgbClr val="16304F"/>
          </a:solidFill>
        </p:spPr>
        <p:txBody>
          <a:bodyPr wrap="square" rtlCol="0" lIns="0" tIns="0" rIns="0" bIns="0" anchor="ctr"/>
          <a:lstStyle/>
          <a:p>
            <a:pPr algn="ctr"/>
            <a:r>
              <a:rPr sz="1300" b="1">
                <a:solidFill>
                  <a:srgbClr val="E6EDF7"/>
                </a:solidFill>
                <a:latin typeface="Segoe UI"/>
                <a:ea typeface="Segoe UI"/>
              </a:rPr>
              <a:t>Docs: README · DEPLOY.md</a:t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E63A268D-4979-4340-8141-208258CCBAE5}"/>
              </a:ext>
            </a:extLst>
          </p:cNvPr>
          <p:cNvSpPr/>
          <p:nvPr/>
        </p:nvSpPr>
        <p:spPr>
          <a:xfrm>
            <a:off x="7839075" y="4476750"/>
            <a:ext cx="2095500" cy="419100"/>
          </a:xfrm>
          <a:prstGeom prst="roundRect">
            <a:avLst/>
          </a:prstGeom>
          <a:solidFill>
            <a:srgbClr val="16304F"/>
          </a:solidFill>
        </p:spPr>
        <p:txBody>
          <a:bodyPr wrap="square" rtlCol="0" lIns="0" tIns="0" rIns="0" bIns="0" anchor="ctr"/>
          <a:lstStyle/>
          <a:p>
            <a:pPr algn="ctr"/>
            <a:r>
              <a:rPr sz="1300" b="1">
                <a:solidFill>
                  <a:srgbClr val="E6EDF7"/>
                </a:solidFill>
                <a:latin typeface="Segoe UI"/>
                <a:ea typeface="Segoe UI"/>
              </a:rPr>
              <a:t>Project report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8040A788-F959-4E34-B4C3-9D9652870346}"/>
              </a:ext>
            </a:extLst>
          </p:cNvPr>
          <p:cNvSpPr txBox="1"/>
          <p:nvPr/>
        </p:nvSpPr>
        <p:spPr>
          <a:xfrm>
            <a:off x="762000" y="6096000"/>
            <a:ext cx="10668000" cy="247650"/>
          </a:xfrm>
        </p:spPr>
        <p:txBody>
          <a:bodyPr wrap="square" rtlCol="0" lIns="0" tIns="0" rIns="0" bIns="0" anchor="t"/>
          <a:lstStyle/>
          <a:p>
            <a:pPr algn="ctr"/>
            <a:r>
              <a:rPr sz="1300">
                <a:solidFill>
                  <a:srgbClr val="8FA6C8"/>
                </a:solidFill>
                <a:latin typeface="Segoe UI"/>
                <a:ea typeface="Segoe UI"/>
              </a:rPr>
              <a:t>15 automated API tests · zero secrets in git · one-command Docker fallback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C43E1C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Microsoft YaHei"/>
        <a:cs typeface=""/>
      </a:majorFont>
      <a:minorFont>
        <a:latin typeface="Calibri"/>
        <a:ea typeface="Microsoft YaHei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C43E1C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Microsoft YaHei"/>
        <a:cs typeface=""/>
      </a:majorFont>
      <a:minorFont>
        <a:latin typeface="Calibri"/>
        <a:ea typeface="Microsoft YaHei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